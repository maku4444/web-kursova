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58" r:id="rId5"/>
    <p:sldId id="259" r:id="rId6"/>
    <p:sldId id="267" r:id="rId7"/>
    <p:sldId id="268" r:id="rId8"/>
    <p:sldId id="269" r:id="rId9"/>
    <p:sldId id="270" r:id="rId10"/>
    <p:sldId id="260" r:id="rId11"/>
    <p:sldId id="271" r:id="rId12"/>
    <p:sldId id="272" r:id="rId13"/>
    <p:sldId id="273" r:id="rId14"/>
    <p:sldId id="274" r:id="rId15"/>
    <p:sldId id="261" r:id="rId16"/>
    <p:sldId id="275" r:id="rId17"/>
    <p:sldId id="276" r:id="rId18"/>
    <p:sldId id="277" r:id="rId19"/>
    <p:sldId id="262" r:id="rId20"/>
    <p:sldId id="278" r:id="rId21"/>
    <p:sldId id="279" r:id="rId22"/>
    <p:sldId id="263" r:id="rId23"/>
  </p:sldIdLst>
  <p:sldSz cx="12192000" cy="6858000"/>
  <p:notesSz cx="6858000" cy="91440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Титульний слайд">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r>
              <a:rPr lang="uk-UA"/>
              <a:t>Зразок заголовка</a:t>
            </a:r>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r>
              <a:rPr lang="uk-UA"/>
              <a:t>Клацніть, щоб редагувати стиль зразка підзаголовка</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5/17/2026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dirty="0"/>
          </a:p>
        </p:txBody>
      </p:sp>
    </p:spTree>
    <p:extLst>
      <p:ext uri="{BB962C8B-B14F-4D97-AF65-F5344CB8AC3E}">
        <p14:creationId xmlns:p14="http://schemas.microsoft.com/office/powerpoint/2010/main" val="2601445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і об’єкт">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176962"/>
            <a:ext cx="12192000" cy="681355"/>
          </a:xfrm>
          <a:custGeom>
            <a:avLst/>
            <a:gdLst/>
            <a:ahLst/>
            <a:cxnLst/>
            <a:rect l="l" t="t" r="r" b="b"/>
            <a:pathLst>
              <a:path w="12192000" h="681354">
                <a:moveTo>
                  <a:pt x="12192000" y="0"/>
                </a:moveTo>
                <a:lnTo>
                  <a:pt x="0" y="0"/>
                </a:lnTo>
                <a:lnTo>
                  <a:pt x="0" y="681037"/>
                </a:lnTo>
                <a:lnTo>
                  <a:pt x="12192000" y="681037"/>
                </a:lnTo>
                <a:lnTo>
                  <a:pt x="12192000" y="0"/>
                </a:lnTo>
                <a:close/>
              </a:path>
            </a:pathLst>
          </a:custGeom>
          <a:solidFill>
            <a:srgbClr val="1F3864"/>
          </a:solidFill>
        </p:spPr>
        <p:txBody>
          <a:bodyPr wrap="square" lIns="0" tIns="0" rIns="0" bIns="0" rtlCol="0"/>
          <a:lstStyle/>
          <a:p>
            <a:endParaRPr dirty="0"/>
          </a:p>
        </p:txBody>
      </p:sp>
      <p:pic>
        <p:nvPicPr>
          <p:cNvPr id="17" name="bg object 17"/>
          <p:cNvPicPr/>
          <p:nvPr/>
        </p:nvPicPr>
        <p:blipFill>
          <a:blip r:embed="rId2" cstate="print"/>
          <a:stretch>
            <a:fillRect/>
          </a:stretch>
        </p:blipFill>
        <p:spPr>
          <a:xfrm>
            <a:off x="234177" y="117594"/>
            <a:ext cx="924520" cy="1350068"/>
          </a:xfrm>
          <a:prstGeom prst="rect">
            <a:avLst/>
          </a:prstGeom>
        </p:spPr>
      </p:pic>
      <p:sp>
        <p:nvSpPr>
          <p:cNvPr id="2" name="Holder 2"/>
          <p:cNvSpPr>
            <a:spLocks noGrp="1"/>
          </p:cNvSpPr>
          <p:nvPr>
            <p:ph type="title"/>
          </p:nvPr>
        </p:nvSpPr>
        <p:spPr/>
        <p:txBody>
          <a:bodyPr lIns="0" tIns="0" rIns="0" bIns="0"/>
          <a:lstStyle>
            <a:lvl1pPr>
              <a:defRPr sz="3600" b="0" i="0">
                <a:solidFill>
                  <a:srgbClr val="1F3864"/>
                </a:solidFill>
                <a:latin typeface="Tahoma"/>
                <a:cs typeface="Tahoma"/>
              </a:defRPr>
            </a:lvl1pPr>
          </a:lstStyle>
          <a:p>
            <a:r>
              <a:rPr lang="uk-UA"/>
              <a:t>Зразок заголовка</a:t>
            </a:r>
            <a:endParaRPr/>
          </a:p>
        </p:txBody>
      </p:sp>
      <p:sp>
        <p:nvSpPr>
          <p:cNvPr id="3" name="Holder 3"/>
          <p:cNvSpPr>
            <a:spLocks noGrp="1"/>
          </p:cNvSpPr>
          <p:nvPr>
            <p:ph type="body" idx="1"/>
          </p:nvPr>
        </p:nvSpPr>
        <p:spPr/>
        <p:txBody>
          <a:bodyPr lIns="0" tIns="0" rIns="0" bIns="0"/>
          <a:lstStyle>
            <a:lvl1pPr>
              <a:defRPr sz="2000" b="0" i="0">
                <a:solidFill>
                  <a:schemeClr val="bg1"/>
                </a:solidFill>
                <a:latin typeface="Calibri"/>
                <a:cs typeface="Calibri"/>
              </a:defRPr>
            </a:lvl1pPr>
          </a:lstStyle>
          <a:p>
            <a:pPr lvl="0"/>
            <a:r>
              <a:rPr lang="uk-UA"/>
              <a:t>Редагувати стиль зразка тексту</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5/17/2026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dirty="0"/>
          </a:p>
        </p:txBody>
      </p:sp>
    </p:spTree>
    <p:extLst>
      <p:ext uri="{BB962C8B-B14F-4D97-AF65-F5344CB8AC3E}">
        <p14:creationId xmlns:p14="http://schemas.microsoft.com/office/powerpoint/2010/main" val="3512094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Два об’єкти">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F3864"/>
                </a:solidFill>
                <a:latin typeface="Tahoma"/>
                <a:cs typeface="Tahoma"/>
              </a:defRPr>
            </a:lvl1pPr>
          </a:lstStyle>
          <a:p>
            <a:r>
              <a:rPr lang="uk-UA"/>
              <a:t>Зразок заголовка</a:t>
            </a:r>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pPr lvl="0"/>
            <a:r>
              <a:rPr lang="uk-UA"/>
              <a:t>Редагувати стиль зразка тексту</a:t>
            </a: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pPr lvl="0"/>
            <a:r>
              <a:rPr lang="uk-UA"/>
              <a:t>Редагувати стиль зразка тексту</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5/17/2026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dirty="0"/>
          </a:p>
        </p:txBody>
      </p:sp>
    </p:spTree>
    <p:extLst>
      <p:ext uri="{BB962C8B-B14F-4D97-AF65-F5344CB8AC3E}">
        <p14:creationId xmlns:p14="http://schemas.microsoft.com/office/powerpoint/2010/main" val="1543015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Лише заголовок">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F3864"/>
                </a:solidFill>
                <a:latin typeface="Tahoma"/>
                <a:cs typeface="Tahoma"/>
              </a:defRPr>
            </a:lvl1pPr>
          </a:lstStyle>
          <a:p>
            <a:r>
              <a:rPr lang="uk-UA"/>
              <a:t>Зразок заголовка</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5/17/2026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dirty="0"/>
          </a:p>
        </p:txBody>
      </p:sp>
    </p:spTree>
    <p:extLst>
      <p:ext uri="{BB962C8B-B14F-4D97-AF65-F5344CB8AC3E}">
        <p14:creationId xmlns:p14="http://schemas.microsoft.com/office/powerpoint/2010/main" val="125175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Пустий слайд">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5/17/2026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dirty="0"/>
          </a:p>
        </p:txBody>
      </p:sp>
    </p:spTree>
    <p:extLst>
      <p:ext uri="{BB962C8B-B14F-4D97-AF65-F5344CB8AC3E}">
        <p14:creationId xmlns:p14="http://schemas.microsoft.com/office/powerpoint/2010/main" val="138858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Титульни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uk-UA"/>
              <a:t>Зразок заголовка</a:t>
            </a:r>
            <a:endParaRPr lang="en-US"/>
          </a:p>
        </p:txBody>
      </p:sp>
      <p:sp>
        <p:nvSpPr>
          <p:cNvPr id="3" name="Пі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a:p>
        </p:txBody>
      </p:sp>
      <p:sp>
        <p:nvSpPr>
          <p:cNvPr id="4" name="Місце для дати 3"/>
          <p:cNvSpPr>
            <a:spLocks noGrp="1"/>
          </p:cNvSpPr>
          <p:nvPr>
            <p:ph type="dt" sz="half" idx="10"/>
          </p:nvPr>
        </p:nvSpPr>
        <p:spPr/>
        <p:txBody>
          <a:bodyPr/>
          <a:lstStyle/>
          <a:p>
            <a:fld id="{36298205-8E98-4351-9F1C-1DD4555500F7}" type="datetimeFigureOut">
              <a:rPr lang="en-US" smtClean="0"/>
              <a:t>5/17/2026</a:t>
            </a:fld>
            <a:endParaRPr lang="en-US" dirty="0"/>
          </a:p>
        </p:txBody>
      </p:sp>
      <p:sp>
        <p:nvSpPr>
          <p:cNvPr id="5" name="Місце для нижнього колонтитула 4"/>
          <p:cNvSpPr>
            <a:spLocks noGrp="1"/>
          </p:cNvSpPr>
          <p:nvPr>
            <p:ph type="ftr" sz="quarter" idx="11"/>
          </p:nvPr>
        </p:nvSpPr>
        <p:spPr/>
        <p:txBody>
          <a:bodyPr/>
          <a:lstStyle/>
          <a:p>
            <a:endParaRPr lang="en-US" dirty="0"/>
          </a:p>
        </p:txBody>
      </p:sp>
      <p:sp>
        <p:nvSpPr>
          <p:cNvPr id="6" name="Місце для номера слайда 5"/>
          <p:cNvSpPr>
            <a:spLocks noGrp="1"/>
          </p:cNvSpPr>
          <p:nvPr>
            <p:ph type="sldNum" sz="quarter" idx="12"/>
          </p:nvPr>
        </p:nvSpPr>
        <p:spPr/>
        <p:txBody>
          <a:bodyPr/>
          <a:lstStyle/>
          <a:p>
            <a:fld id="{DB679FDD-8895-48C4-B134-F13FA7C2D74E}" type="slidenum">
              <a:rPr lang="en-US" smtClean="0"/>
              <a:t>‹#›</a:t>
            </a:fld>
            <a:endParaRPr lang="en-US" dirty="0"/>
          </a:p>
        </p:txBody>
      </p:sp>
    </p:spTree>
    <p:extLst>
      <p:ext uri="{BB962C8B-B14F-4D97-AF65-F5344CB8AC3E}">
        <p14:creationId xmlns:p14="http://schemas.microsoft.com/office/powerpoint/2010/main" val="748123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333413"/>
            <a:ext cx="12192000" cy="525145"/>
          </a:xfrm>
          <a:custGeom>
            <a:avLst/>
            <a:gdLst/>
            <a:ahLst/>
            <a:cxnLst/>
            <a:rect l="l" t="t" r="r" b="b"/>
            <a:pathLst>
              <a:path w="12192000" h="525145">
                <a:moveTo>
                  <a:pt x="12191936" y="0"/>
                </a:moveTo>
                <a:lnTo>
                  <a:pt x="0" y="0"/>
                </a:lnTo>
                <a:lnTo>
                  <a:pt x="0" y="524586"/>
                </a:lnTo>
                <a:lnTo>
                  <a:pt x="12191936" y="524586"/>
                </a:lnTo>
                <a:lnTo>
                  <a:pt x="12191936" y="0"/>
                </a:lnTo>
                <a:close/>
              </a:path>
            </a:pathLst>
          </a:custGeom>
          <a:solidFill>
            <a:srgbClr val="1C396E"/>
          </a:solidFill>
        </p:spPr>
        <p:txBody>
          <a:bodyPr wrap="square" lIns="0" tIns="0" rIns="0" bIns="0" rtlCol="0"/>
          <a:lstStyle/>
          <a:p>
            <a:endParaRPr dirty="0"/>
          </a:p>
        </p:txBody>
      </p:sp>
      <p:sp>
        <p:nvSpPr>
          <p:cNvPr id="17" name="bg object 17"/>
          <p:cNvSpPr/>
          <p:nvPr/>
        </p:nvSpPr>
        <p:spPr>
          <a:xfrm>
            <a:off x="0" y="6333401"/>
            <a:ext cx="12192000" cy="525145"/>
          </a:xfrm>
          <a:custGeom>
            <a:avLst/>
            <a:gdLst/>
            <a:ahLst/>
            <a:cxnLst/>
            <a:rect l="l" t="t" r="r" b="b"/>
            <a:pathLst>
              <a:path w="12192000" h="525145">
                <a:moveTo>
                  <a:pt x="0" y="0"/>
                </a:moveTo>
                <a:lnTo>
                  <a:pt x="12191936" y="0"/>
                </a:lnTo>
                <a:lnTo>
                  <a:pt x="12191936" y="524598"/>
                </a:lnTo>
              </a:path>
            </a:pathLst>
          </a:custGeom>
          <a:ln w="9525">
            <a:solidFill>
              <a:srgbClr val="1C396E"/>
            </a:solidFill>
          </a:ln>
        </p:spPr>
        <p:txBody>
          <a:bodyPr wrap="square" lIns="0" tIns="0" rIns="0" bIns="0" rtlCol="0"/>
          <a:lstStyle/>
          <a:p>
            <a:endParaRPr dirty="0"/>
          </a:p>
        </p:txBody>
      </p:sp>
      <p:sp>
        <p:nvSpPr>
          <p:cNvPr id="18" name="bg object 18"/>
          <p:cNvSpPr/>
          <p:nvPr/>
        </p:nvSpPr>
        <p:spPr>
          <a:xfrm>
            <a:off x="0" y="0"/>
            <a:ext cx="12192000" cy="1206500"/>
          </a:xfrm>
          <a:custGeom>
            <a:avLst/>
            <a:gdLst/>
            <a:ahLst/>
            <a:cxnLst/>
            <a:rect l="l" t="t" r="r" b="b"/>
            <a:pathLst>
              <a:path w="12192000" h="1206500">
                <a:moveTo>
                  <a:pt x="12191936" y="0"/>
                </a:moveTo>
                <a:lnTo>
                  <a:pt x="0" y="0"/>
                </a:lnTo>
                <a:lnTo>
                  <a:pt x="0" y="1206004"/>
                </a:lnTo>
                <a:lnTo>
                  <a:pt x="12191936" y="1206004"/>
                </a:lnTo>
                <a:lnTo>
                  <a:pt x="12191936" y="0"/>
                </a:lnTo>
                <a:close/>
              </a:path>
            </a:pathLst>
          </a:custGeom>
          <a:solidFill>
            <a:srgbClr val="1C396E"/>
          </a:solidFill>
        </p:spPr>
        <p:txBody>
          <a:bodyPr wrap="square" lIns="0" tIns="0" rIns="0" bIns="0" rtlCol="0"/>
          <a:lstStyle/>
          <a:p>
            <a:endParaRPr dirty="0"/>
          </a:p>
        </p:txBody>
      </p:sp>
      <p:sp>
        <p:nvSpPr>
          <p:cNvPr id="19" name="bg object 19"/>
          <p:cNvSpPr/>
          <p:nvPr/>
        </p:nvSpPr>
        <p:spPr>
          <a:xfrm>
            <a:off x="0" y="0"/>
            <a:ext cx="12192000" cy="1206500"/>
          </a:xfrm>
          <a:custGeom>
            <a:avLst/>
            <a:gdLst/>
            <a:ahLst/>
            <a:cxnLst/>
            <a:rect l="l" t="t" r="r" b="b"/>
            <a:pathLst>
              <a:path w="12192000" h="1206500">
                <a:moveTo>
                  <a:pt x="12191936" y="0"/>
                </a:moveTo>
                <a:lnTo>
                  <a:pt x="12191936" y="1205992"/>
                </a:lnTo>
                <a:lnTo>
                  <a:pt x="0" y="1205992"/>
                </a:lnTo>
              </a:path>
            </a:pathLst>
          </a:custGeom>
          <a:ln w="9525">
            <a:solidFill>
              <a:srgbClr val="0B5394"/>
            </a:solidFill>
          </a:ln>
        </p:spPr>
        <p:txBody>
          <a:bodyPr wrap="square" lIns="0" tIns="0" rIns="0" bIns="0" rtlCol="0"/>
          <a:lstStyle/>
          <a:p>
            <a:endParaRPr dirty="0"/>
          </a:p>
        </p:txBody>
      </p:sp>
      <p:pic>
        <p:nvPicPr>
          <p:cNvPr id="20" name="bg object 20"/>
          <p:cNvPicPr/>
          <p:nvPr/>
        </p:nvPicPr>
        <p:blipFill>
          <a:blip r:embed="rId8" cstate="print"/>
          <a:stretch>
            <a:fillRect/>
          </a:stretch>
        </p:blipFill>
        <p:spPr>
          <a:xfrm>
            <a:off x="107204" y="55999"/>
            <a:ext cx="731591" cy="1062425"/>
          </a:xfrm>
          <a:prstGeom prst="rect">
            <a:avLst/>
          </a:prstGeom>
        </p:spPr>
      </p:pic>
      <p:sp>
        <p:nvSpPr>
          <p:cNvPr id="2" name="Holder 2"/>
          <p:cNvSpPr>
            <a:spLocks noGrp="1"/>
          </p:cNvSpPr>
          <p:nvPr>
            <p:ph type="title"/>
          </p:nvPr>
        </p:nvSpPr>
        <p:spPr>
          <a:xfrm>
            <a:off x="1359229" y="158364"/>
            <a:ext cx="9473541" cy="1245870"/>
          </a:xfrm>
          <a:prstGeom prst="rect">
            <a:avLst/>
          </a:prstGeom>
        </p:spPr>
        <p:txBody>
          <a:bodyPr wrap="square" lIns="0" tIns="0" rIns="0" bIns="0">
            <a:spAutoFit/>
          </a:bodyPr>
          <a:lstStyle>
            <a:lvl1pPr>
              <a:defRPr sz="3600" b="0" i="0">
                <a:solidFill>
                  <a:srgbClr val="1F3864"/>
                </a:solidFill>
                <a:latin typeface="Tahoma"/>
                <a:cs typeface="Tahoma"/>
              </a:defRPr>
            </a:lvl1pPr>
          </a:lstStyle>
          <a:p>
            <a:endParaRPr/>
          </a:p>
        </p:txBody>
      </p:sp>
      <p:sp>
        <p:nvSpPr>
          <p:cNvPr id="3" name="Holder 3"/>
          <p:cNvSpPr>
            <a:spLocks noGrp="1"/>
          </p:cNvSpPr>
          <p:nvPr>
            <p:ph type="body" idx="1"/>
          </p:nvPr>
        </p:nvSpPr>
        <p:spPr>
          <a:xfrm>
            <a:off x="695289" y="1334694"/>
            <a:ext cx="10801421" cy="2847340"/>
          </a:xfrm>
          <a:prstGeom prst="rect">
            <a:avLst/>
          </a:prstGeom>
        </p:spPr>
        <p:txBody>
          <a:bodyPr wrap="square" lIns="0" tIns="0" rIns="0" bIns="0">
            <a:spAutoFit/>
          </a:bodyPr>
          <a:lstStyle>
            <a:lvl1pPr>
              <a:defRPr sz="2000" b="0" i="0">
                <a:solidFill>
                  <a:schemeClr val="bg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lang="en-US"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36298205-8E98-4351-9F1C-1DD4555500F7}" type="datetimeFigureOut">
              <a:rPr lang="en-US" smtClean="0"/>
              <a:t>5/17/2026</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DB679FDD-8895-48C4-B134-F13FA7C2D74E}" type="slidenum">
              <a:rPr lang="en-US" smtClean="0"/>
              <a:t>‹#›</a:t>
            </a:fld>
            <a:endParaRPr lang="en-US" dirty="0"/>
          </a:p>
        </p:txBody>
      </p:sp>
    </p:spTree>
    <p:extLst>
      <p:ext uri="{BB962C8B-B14F-4D97-AF65-F5344CB8AC3E}">
        <p14:creationId xmlns:p14="http://schemas.microsoft.com/office/powerpoint/2010/main" val="206130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Maku4444/WEB-KURSOVA" TargetMode="Externa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25287" y="2718467"/>
            <a:ext cx="11661913" cy="2754600"/>
          </a:xfrm>
        </p:spPr>
        <p:txBody>
          <a:bodyPr/>
          <a:lstStyle/>
          <a:p>
            <a:br>
              <a:rPr lang="uk-UA" sz="4000" b="1" dirty="0"/>
            </a:br>
            <a:r>
              <a:rPr lang="uk-UA" sz="3600" b="1" dirty="0"/>
              <a:t>Тема:Розробка додатка для календаря</a:t>
            </a:r>
            <a:br>
              <a:rPr lang="uk-UA" sz="3600" b="1" dirty="0"/>
            </a:br>
            <a:r>
              <a:rPr lang="uk-UA" sz="2800" u="sng" dirty="0"/>
              <a:t>Виконав:</a:t>
            </a:r>
            <a:r>
              <a:rPr lang="uk-UA" sz="2800" dirty="0"/>
              <a:t> Джулай Макар Олександрович,група ТВ-41</a:t>
            </a:r>
            <a:br>
              <a:rPr lang="uk-UA" sz="2800" dirty="0"/>
            </a:br>
            <a:r>
              <a:rPr lang="uk-UA" sz="2800" u="sng" dirty="0"/>
              <a:t>Перевірив:</a:t>
            </a:r>
            <a:r>
              <a:rPr lang="uk-UA" sz="3600" dirty="0"/>
              <a:t> </a:t>
            </a:r>
            <a:r>
              <a:rPr lang="uk-UA" sz="2800" dirty="0"/>
              <a:t>Голець Владислав</a:t>
            </a:r>
            <a:br>
              <a:rPr lang="uk-UA" sz="2800" dirty="0"/>
            </a:br>
            <a:r>
              <a:rPr lang="en-US" sz="1100" dirty="0"/>
              <a:t>GitHub </a:t>
            </a:r>
            <a:r>
              <a:rPr lang="uk-UA" sz="1100" dirty="0"/>
              <a:t>репозиторій</a:t>
            </a:r>
            <a:r>
              <a:rPr lang="en-US" sz="1100" dirty="0"/>
              <a:t> </a:t>
            </a:r>
            <a:r>
              <a:rPr lang="en-US" sz="1100" dirty="0">
                <a:hlinkClick r:id="rId2"/>
              </a:rPr>
              <a:t>WEB-KURSOVA</a:t>
            </a:r>
            <a:br>
              <a:rPr lang="uk-UA" sz="2800" dirty="0"/>
            </a:br>
            <a:r>
              <a:rPr lang="uk-UA" sz="2800" dirty="0"/>
              <a:t>Рік захисту</a:t>
            </a:r>
            <a:r>
              <a:rPr lang="en-US" sz="2800" dirty="0"/>
              <a:t> 2026</a:t>
            </a:r>
            <a:endParaRPr lang="uk-UA" sz="3200" dirty="0"/>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6" name="TextBox 5"/>
          <p:cNvSpPr txBox="1"/>
          <p:nvPr/>
        </p:nvSpPr>
        <p:spPr>
          <a:xfrm>
            <a:off x="225288" y="1170603"/>
            <a:ext cx="11661912" cy="2062103"/>
          </a:xfrm>
          <a:prstGeom prst="rect">
            <a:avLst/>
          </a:prstGeom>
          <a:noFill/>
        </p:spPr>
        <p:txBody>
          <a:bodyPr wrap="square" rtlCol="0">
            <a:spAutoFit/>
          </a:bodyPr>
          <a:lstStyle/>
          <a:p>
            <a:pPr algn="ctr"/>
            <a:r>
              <a:rPr lang="uk-UA" sz="3200" dirty="0">
                <a:solidFill>
                  <a:srgbClr val="002060"/>
                </a:solidFill>
              </a:rPr>
              <a:t>Навчально-науковий інститут атомної та теплової енергетики</a:t>
            </a:r>
          </a:p>
          <a:p>
            <a:pPr algn="ctr"/>
            <a:r>
              <a:rPr lang="uk-UA" sz="3200" dirty="0">
                <a:solidFill>
                  <a:srgbClr val="002060"/>
                </a:solidFill>
              </a:rPr>
              <a:t>Кафедра інженерії програмного забезпечення в енергетиці</a:t>
            </a:r>
          </a:p>
          <a:p>
            <a:pPr algn="ctr"/>
            <a:r>
              <a:rPr lang="uk-UA" sz="3200" b="1" dirty="0">
                <a:solidFill>
                  <a:srgbClr val="002060"/>
                </a:solidFill>
              </a:rPr>
              <a:t>Основи Веб-програмування. Курсова робота</a:t>
            </a:r>
          </a:p>
        </p:txBody>
      </p:sp>
      <p:sp>
        <p:nvSpPr>
          <p:cNvPr id="3" name="TextBox 2"/>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1/22</a:t>
            </a:r>
          </a:p>
        </p:txBody>
      </p:sp>
    </p:spTree>
    <p:extLst>
      <p:ext uri="{BB962C8B-B14F-4D97-AF65-F5344CB8AC3E}">
        <p14:creationId xmlns:p14="http://schemas.microsoft.com/office/powerpoint/2010/main" val="768859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652631" y="1220424"/>
            <a:ext cx="9040536" cy="1354217"/>
          </a:xfrm>
        </p:spPr>
        <p:txBody>
          <a:bodyPr/>
          <a:lstStyle/>
          <a:p>
            <a:r>
              <a:rPr lang="uk-UA" sz="2800" dirty="0">
                <a:solidFill>
                  <a:srgbClr val="002060"/>
                </a:solidFill>
              </a:rPr>
              <a:t>Актуальність теми</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2/22</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10" name="Rectangle 2">
            <a:extLst>
              <a:ext uri="{FF2B5EF4-FFF2-40B4-BE49-F238E27FC236}">
                <a16:creationId xmlns:a16="http://schemas.microsoft.com/office/drawing/2014/main" id="{6AEDD4BF-088A-420B-87F5-EF8ECB7E2396}"/>
              </a:ext>
            </a:extLst>
          </p:cNvPr>
          <p:cNvSpPr>
            <a:spLocks noChangeArrowheads="1"/>
          </p:cNvSpPr>
          <p:nvPr/>
        </p:nvSpPr>
        <p:spPr bwMode="auto">
          <a:xfrm>
            <a:off x="520" y="2144312"/>
            <a:ext cx="12164976"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Опис задачі, яку вирішує курсова робота:</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br>
              <a:rPr kumimoji="0" lang="ru-RU"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Автоматизація процесів персонального тайм-менеджменту та оптимізація щоденного планування. </a:t>
            </a:r>
            <a:br>
              <a:rPr kumimoji="0" lang="ru-RU"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Вебдодаток усуває проблему пасивного збереження розкладів завдяки впровадженню інтегрованих проактивних SMTP-сповіщень </a:t>
            </a:r>
            <a:br>
              <a:rPr kumimoji="0" lang="ru-RU"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про дедлайни.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Значення теми для галузі інженерії програмного забезпечення:</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Демонстрація практичного застосування трирівневої архітектури</a:t>
            </a:r>
            <a:endPar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(3-Tier) та ORM-мапінгу для гарантії безпеки даних, ізоляції користувацьких сесій та автоматичної пре-валідації бізнес-логіки додатка.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Мета роботи:</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Проєктування та розробка безпечного, функціонального хмарного вебдодатка «Cloud Calendar» </a:t>
            </a:r>
            <a:endPar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для ефективного керування подіями.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Предмет роботи:</a:t>
            </a:r>
            <a:endParaRPr kumimoji="0" lang="en-US"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Процеси розробки серверної та клієнтської частин застосунку, механізми асинхронної взаємодії,</a:t>
            </a:r>
            <a:endPar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фонового планування та захисту конфігураційних даних. </a:t>
            </a:r>
          </a:p>
        </p:txBody>
      </p:sp>
    </p:spTree>
    <p:extLst>
      <p:ext uri="{BB962C8B-B14F-4D97-AF65-F5344CB8AC3E}">
        <p14:creationId xmlns:p14="http://schemas.microsoft.com/office/powerpoint/2010/main" val="2846788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350757"/>
            <a:ext cx="9144000" cy="1354217"/>
          </a:xfrm>
        </p:spPr>
        <p:txBody>
          <a:bodyPr/>
          <a:lstStyle/>
          <a:p>
            <a:r>
              <a:rPr lang="uk-UA" sz="2800" dirty="0">
                <a:solidFill>
                  <a:srgbClr val="002060"/>
                </a:solidFill>
              </a:rPr>
              <a:t>Постановка задачі</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3/22</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6" name="Rectangle 1">
            <a:extLst>
              <a:ext uri="{FF2B5EF4-FFF2-40B4-BE49-F238E27FC236}">
                <a16:creationId xmlns:a16="http://schemas.microsoft.com/office/drawing/2014/main" id="{878826B4-6F17-4B4E-8C70-FC7503685395}"/>
              </a:ext>
            </a:extLst>
          </p:cNvPr>
          <p:cNvSpPr>
            <a:spLocks noGrp="1" noChangeArrowheads="1"/>
          </p:cNvSpPr>
          <p:nvPr>
            <p:ph type="subTitle" idx="1"/>
          </p:nvPr>
        </p:nvSpPr>
        <p:spPr bwMode="auto">
          <a:xfrm>
            <a:off x="156841" y="2373753"/>
            <a:ext cx="12035160" cy="377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Функціональні завдання для досягнення мети:</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Модуль захищеної автентифікації:</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реалізація реєстрації та входу користувачів із використанням незворотного криптографічного</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хешування паролів та механізму сесійної ізоляції.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Логічне ядро календаря:</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забезпечення повного життєвого циклу (CRUD) подій та їхньої гнучкої класифікації за</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категоріями з унікальним колірним кодуванням.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Автоматична пре-валідація даних:</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впровадження програмних тригерів на рівні ORM для перевірки часових меж подій та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запобігання їхньому перетину чи накладанню.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Проактивна система сповіщень:</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інтеграція фонового планувальника завдань та SMTP-клієнта для автоматичного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надсилання нагадувань на електронну пошту без участі користувача.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Модуль аналітики та звітності:</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розробка сервісу для динамічного розрахунку фактично витраченого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часу за категоріями та його візуалізації на дашборді.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Панель адміністрування:</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реалізація рольової моделі доступу (User/Admin) з інтерфейсом для глобальної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модерації облікових записів та редагування загальносистемних категорій. </a:t>
            </a:r>
          </a:p>
          <a:p>
            <a:pPr marR="0" lvl="0" algn="l" defTabSz="914400" rtl="0" eaLnBrk="0" fontAlgn="base" latinLnBrk="0" hangingPunct="0">
              <a:lnSpc>
                <a:spcPct val="100000"/>
              </a:lnSpc>
              <a:spcBef>
                <a:spcPct val="0"/>
              </a:spcBef>
              <a:spcAft>
                <a:spcPct val="0"/>
              </a:spcAft>
              <a:buClrTx/>
              <a:buSzTx/>
              <a:tabLst/>
            </a:pPr>
            <a:endParaRPr kumimoji="0" lang="LID4096"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444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213520" y="1265075"/>
            <a:ext cx="9764959" cy="1354217"/>
          </a:xfrm>
        </p:spPr>
        <p:txBody>
          <a:bodyPr/>
          <a:lstStyle/>
          <a:p>
            <a:r>
              <a:rPr lang="uk-UA" sz="2800" dirty="0">
                <a:solidFill>
                  <a:srgbClr val="002060"/>
                </a:solidFill>
                <a:latin typeface="+mj-lt"/>
              </a:rPr>
              <a:t>Аналіз предметної області</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4/22</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9" name="Rectangle 2">
            <a:extLst>
              <a:ext uri="{FF2B5EF4-FFF2-40B4-BE49-F238E27FC236}">
                <a16:creationId xmlns:a16="http://schemas.microsoft.com/office/drawing/2014/main" id="{4072F971-2850-4689-BACF-FE1388C482C2}"/>
              </a:ext>
            </a:extLst>
          </p:cNvPr>
          <p:cNvSpPr>
            <a:spLocks noGrp="1" noChangeArrowheads="1"/>
          </p:cNvSpPr>
          <p:nvPr>
            <p:ph type="subTitle" idx="1"/>
          </p:nvPr>
        </p:nvSpPr>
        <p:spPr bwMode="auto">
          <a:xfrm>
            <a:off x="159117" y="1644468"/>
            <a:ext cx="1203288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Недоліки існуючих рішень: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Пасивність систем: Більшість календарів не мають гнучких вбудованих інструментів для кастомізації фонових проактивних процесів</a:t>
            </a:r>
            <a:br>
              <a:rPr kumimoji="0" lang="ru-RU"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 (наприклад, похвилинної перевірки логів без навантаження на ядро).</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Проблеми безпеки: Використання "сирих" (raw) SQL-запитів у багатьох плагінах готових систем створює ризики ін'єкцій.</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Обґрунтування вибору технологій (Технологічний стек): </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Python (Flask):</a:t>
            </a: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 Забезпечує легкість прототипування, модульність та повний контроль над маршрутизацією і життєвим циклом сесій.</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MySQL (InnoDB):</a:t>
            </a: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 Реляційне сховище з підтримкою транзакцій, що гарантує цілісність даних при одночасному зверненні користувача </a:t>
            </a:r>
            <a:br>
              <a:rPr kumimoji="0" lang="ru-RU"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та фонового поштового демона.</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SQLAlchemy ORM:</a:t>
            </a: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 Декларативний мапінг об'єктів, який автоматично екранує параметри, ліквідуючи загрозу SQL-ін'єкцій.</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APScheduler:</a:t>
            </a: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 Керування багатопотоковістю для виконання ізольованих періодичних задач (SMTP-сповіщень) у фоні вебсервера.</a:t>
            </a:r>
          </a:p>
          <a:p>
            <a:pPr marR="0" lvl="0" algn="l" defTabSz="914400" rtl="0" eaLnBrk="0" fontAlgn="base" latinLnBrk="0" hangingPunct="0">
              <a:lnSpc>
                <a:spcPct val="100000"/>
              </a:lnSpc>
              <a:spcBef>
                <a:spcPct val="0"/>
              </a:spcBef>
              <a:spcAft>
                <a:spcPct val="0"/>
              </a:spcAft>
              <a:buClrTx/>
              <a:buSzTx/>
              <a:tabLst/>
            </a:pP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1453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30892"/>
            <a:ext cx="8979017" cy="2769989"/>
          </a:xfrm>
        </p:spPr>
        <p:txBody>
          <a:bodyPr/>
          <a:lstStyle/>
          <a:p>
            <a:br>
              <a:rPr lang="uk-UA" dirty="0">
                <a:solidFill>
                  <a:srgbClr val="002060"/>
                </a:solidFill>
              </a:rPr>
            </a:br>
            <a:br>
              <a:rPr lang="uk-UA" dirty="0">
                <a:solidFill>
                  <a:srgbClr val="002060"/>
                </a:solidFill>
              </a:rPr>
            </a:br>
            <a:endParaRPr lang="uk-UA" dirty="0"/>
          </a:p>
        </p:txBody>
      </p:sp>
      <p:sp>
        <p:nvSpPr>
          <p:cNvPr id="4" name="TextBox 3"/>
          <p:cNvSpPr txBox="1"/>
          <p:nvPr/>
        </p:nvSpPr>
        <p:spPr>
          <a:xfrm>
            <a:off x="9515061" y="6350230"/>
            <a:ext cx="2650435" cy="461665"/>
          </a:xfrm>
          <a:prstGeom prst="rect">
            <a:avLst/>
          </a:prstGeom>
          <a:noFill/>
        </p:spPr>
        <p:txBody>
          <a:bodyPr wrap="square" rtlCol="0">
            <a:spAutoFit/>
          </a:bodyPr>
          <a:lstStyle/>
          <a:p>
            <a:pPr algn="r"/>
            <a:r>
              <a:rPr lang="uk-UA" sz="2400" dirty="0">
                <a:solidFill>
                  <a:schemeClr val="bg1"/>
                </a:solidFill>
              </a:rPr>
              <a:t>5</a:t>
            </a:r>
            <a:r>
              <a:rPr lang="en-US" sz="2400" dirty="0">
                <a:solidFill>
                  <a:schemeClr val="bg1"/>
                </a:solidFill>
              </a:rPr>
              <a:t>/</a:t>
            </a:r>
            <a:r>
              <a:rPr lang="uk-UA" sz="2400" dirty="0">
                <a:solidFill>
                  <a:schemeClr val="bg1"/>
                </a:solidFill>
              </a:rPr>
              <a:t>22</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6" name="TextBox 5">
            <a:extLst>
              <a:ext uri="{FF2B5EF4-FFF2-40B4-BE49-F238E27FC236}">
                <a16:creationId xmlns:a16="http://schemas.microsoft.com/office/drawing/2014/main" id="{A239594E-14A7-4BB5-9773-CDEB6C82F261}"/>
              </a:ext>
            </a:extLst>
          </p:cNvPr>
          <p:cNvSpPr txBox="1"/>
          <p:nvPr/>
        </p:nvSpPr>
        <p:spPr>
          <a:xfrm>
            <a:off x="1928044" y="1223171"/>
            <a:ext cx="7778018" cy="523220"/>
          </a:xfrm>
          <a:prstGeom prst="rect">
            <a:avLst/>
          </a:prstGeom>
          <a:noFill/>
        </p:spPr>
        <p:txBody>
          <a:bodyPr wrap="square" rtlCol="0">
            <a:spAutoFit/>
          </a:bodyPr>
          <a:lstStyle/>
          <a:p>
            <a:r>
              <a:rPr lang="ru-RU" sz="2800" dirty="0">
                <a:solidFill>
                  <a:schemeClr val="tx2">
                    <a:lumMod val="50000"/>
                  </a:schemeClr>
                </a:solidFill>
                <a:latin typeface="+mj-lt"/>
              </a:rPr>
              <a:t>Методологія проєктування та вимоги до системи</a:t>
            </a:r>
            <a:endParaRPr lang="LID4096" sz="2800" dirty="0">
              <a:solidFill>
                <a:schemeClr val="tx2">
                  <a:lumMod val="50000"/>
                </a:schemeClr>
              </a:solidFill>
              <a:latin typeface="+mj-lt"/>
            </a:endParaRPr>
          </a:p>
        </p:txBody>
      </p:sp>
      <p:sp>
        <p:nvSpPr>
          <p:cNvPr id="17" name="TextBox 16">
            <a:extLst>
              <a:ext uri="{FF2B5EF4-FFF2-40B4-BE49-F238E27FC236}">
                <a16:creationId xmlns:a16="http://schemas.microsoft.com/office/drawing/2014/main" id="{32971515-495D-4A23-8A85-72CF0C043005}"/>
              </a:ext>
            </a:extLst>
          </p:cNvPr>
          <p:cNvSpPr txBox="1"/>
          <p:nvPr/>
        </p:nvSpPr>
        <p:spPr>
          <a:xfrm>
            <a:off x="940525" y="3429000"/>
            <a:ext cx="184731" cy="369332"/>
          </a:xfrm>
          <a:prstGeom prst="rect">
            <a:avLst/>
          </a:prstGeom>
          <a:noFill/>
        </p:spPr>
        <p:txBody>
          <a:bodyPr wrap="none" rtlCol="0">
            <a:spAutoFit/>
          </a:bodyPr>
          <a:lstStyle/>
          <a:p>
            <a:endParaRPr lang="LID4096" dirty="0"/>
          </a:p>
        </p:txBody>
      </p:sp>
      <p:sp>
        <p:nvSpPr>
          <p:cNvPr id="19" name="Rectangle 12">
            <a:extLst>
              <a:ext uri="{FF2B5EF4-FFF2-40B4-BE49-F238E27FC236}">
                <a16:creationId xmlns:a16="http://schemas.microsoft.com/office/drawing/2014/main" id="{91E5A0EE-800E-495F-ADDA-E31C937BA0BC}"/>
              </a:ext>
            </a:extLst>
          </p:cNvPr>
          <p:cNvSpPr>
            <a:spLocks noChangeArrowheads="1"/>
          </p:cNvSpPr>
          <p:nvPr/>
        </p:nvSpPr>
        <p:spPr bwMode="auto">
          <a:xfrm>
            <a:off x="0" y="2045373"/>
            <a:ext cx="121920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Методологічні підходи розробки:</a:t>
            </a:r>
            <a:endPar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Модульний підхід: повна декомпозиція системи на ізольовані сервіси (модуль авторизації, Calendar Engine, Notification Dispatcher).</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Функціональні вимоги (Functional Requirements):</a:t>
            </a:r>
            <a:endPar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Автентифікація, криптографічний захист сесій та відновлення паролів.</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Повний життєвий цикл (CRUD) подій із прив'язкою до категорій користувача.</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Автоматичний фоновий моніторинг часових логів та SMTP-інформування.</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Глобальна модерація системи та управління ролями (User / Admin).</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u="none" strike="noStrike" cap="none" normalizeH="0" baseline="0" dirty="0">
                <a:ln>
                  <a:noFill/>
                </a:ln>
                <a:solidFill>
                  <a:schemeClr val="tx1"/>
                </a:solidFill>
                <a:effectLst/>
                <a:latin typeface="Arial" panose="020B0604020202020204" pitchFamily="34" charset="0"/>
                <a:cs typeface="Arial" panose="020B0604020202020204" pitchFamily="34" charset="0"/>
              </a:rPr>
              <a:t>Нефункціональні вимоги (Non-functional Requirements):</a:t>
            </a:r>
            <a:endPar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Безпека: стійкість до SQL-ін'єкцій та XSS-атак, ізоляція файлу конфігурацій через .env.</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Продуктивність: швидкість обробки HTTP-запитів сервером до 200 мс.</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u="none" strike="noStrike" cap="none" normalizeH="0" baseline="0" dirty="0">
                <a:ln>
                  <a:noFill/>
                </a:ln>
                <a:solidFill>
                  <a:schemeClr val="tx1"/>
                </a:solidFill>
                <a:effectLst/>
                <a:latin typeface="Arial" panose="020B0604020202020204" pitchFamily="34" charset="0"/>
                <a:cs typeface="Arial" panose="020B0604020202020204" pitchFamily="34" charset="0"/>
              </a:rPr>
              <a:t>Зручність (UX/UI): адаптивність інтерфейсу під мобільні пристрої та Desktop (CSS Grid/Flexbox).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1126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7C5871-C831-4864-9198-E31B988D65BD}"/>
              </a:ext>
            </a:extLst>
          </p:cNvPr>
          <p:cNvSpPr>
            <a:spLocks noGrp="1"/>
          </p:cNvSpPr>
          <p:nvPr>
            <p:ph type="ctrTitle"/>
          </p:nvPr>
        </p:nvSpPr>
        <p:spPr>
          <a:xfrm>
            <a:off x="1524000" y="1275443"/>
            <a:ext cx="9144000" cy="430887"/>
          </a:xfrm>
        </p:spPr>
        <p:txBody>
          <a:bodyPr/>
          <a:lstStyle/>
          <a:p>
            <a:r>
              <a:rPr lang="ru-RU" sz="2800" dirty="0">
                <a:latin typeface="+mj-lt"/>
              </a:rPr>
              <a:t>Архітектура системи та математичне моделювання</a:t>
            </a:r>
            <a:endParaRPr lang="LID4096" sz="2800" dirty="0">
              <a:latin typeface="+mj-lt"/>
            </a:endParaRPr>
          </a:p>
        </p:txBody>
      </p:sp>
      <p:sp>
        <p:nvSpPr>
          <p:cNvPr id="4" name="Rectangle 1">
            <a:extLst>
              <a:ext uri="{FF2B5EF4-FFF2-40B4-BE49-F238E27FC236}">
                <a16:creationId xmlns:a16="http://schemas.microsoft.com/office/drawing/2014/main" id="{68F31832-38CD-4C40-AFE5-67BC2F59FEB7}"/>
              </a:ext>
            </a:extLst>
          </p:cNvPr>
          <p:cNvSpPr>
            <a:spLocks noGrp="1" noChangeArrowheads="1"/>
          </p:cNvSpPr>
          <p:nvPr>
            <p:ph type="subTitle" idx="1"/>
          </p:nvPr>
        </p:nvSpPr>
        <p:spPr bwMode="auto">
          <a:xfrm>
            <a:off x="284860" y="2536497"/>
            <a:ext cx="8717451"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Архітектурний патерн (3-Tier &amp; MVC):</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Presentation Layer:</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асинхронний фронтенд (HTML5, CSS-змінні, Fetch API, JSON).</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Service Layer (Flask):</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контролери маршрутизації, валідатори, планувальник APScheduler.</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Data Access Layer:</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SQLAlchemy ORM, пул з'єднань з СКБД MySQL (InnoDB).</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Математичне моделювання та бізнес-правила:</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Модель криптографічного захисту:</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функція незворотного хешування паролів:</a:t>
            </a:r>
          </a:p>
          <a:p>
            <a:pPr marR="0" lvl="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Hash= scrypt </a:t>
            </a:r>
            <a: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Password,salt,N,r,p)</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Критерій хронологічної валідності події:</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недопущення перевернутого часу:</a:t>
            </a:r>
          </a:p>
          <a:p>
            <a:pPr marR="0" lvl="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T{start} &lt; T{end}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50BCDA1-10AC-4C2B-9113-9AC82D15B2D8}"/>
              </a:ext>
            </a:extLst>
          </p:cNvPr>
          <p:cNvSpPr txBox="1"/>
          <p:nvPr/>
        </p:nvSpPr>
        <p:spPr>
          <a:xfrm>
            <a:off x="6010712" y="6404886"/>
            <a:ext cx="6098796" cy="369332"/>
          </a:xfrm>
          <a:prstGeom prst="rect">
            <a:avLst/>
          </a:prstGeom>
          <a:noFill/>
        </p:spPr>
        <p:txBody>
          <a:bodyPr wrap="square">
            <a:spAutoFit/>
          </a:bodyPr>
          <a:lstStyle/>
          <a:p>
            <a:pPr algn="r"/>
            <a:r>
              <a:rPr lang="en-US" dirty="0">
                <a:solidFill>
                  <a:schemeClr val="bg1"/>
                </a:solidFill>
              </a:rPr>
              <a:t>6</a:t>
            </a:r>
            <a:r>
              <a:rPr lang="en-US" sz="1800" dirty="0">
                <a:solidFill>
                  <a:schemeClr val="bg1"/>
                </a:solidFill>
              </a:rPr>
              <a:t>/</a:t>
            </a:r>
            <a:r>
              <a:rPr lang="uk-UA" dirty="0">
                <a:solidFill>
                  <a:schemeClr val="bg1"/>
                </a:solidFill>
              </a:rPr>
              <a:t>22</a:t>
            </a:r>
            <a:endParaRPr lang="uk-UA" sz="1800" dirty="0">
              <a:solidFill>
                <a:schemeClr val="bg1"/>
              </a:solidFill>
            </a:endParaRPr>
          </a:p>
        </p:txBody>
      </p:sp>
      <p:sp>
        <p:nvSpPr>
          <p:cNvPr id="7" name="TextBox 6">
            <a:extLst>
              <a:ext uri="{FF2B5EF4-FFF2-40B4-BE49-F238E27FC236}">
                <a16:creationId xmlns:a16="http://schemas.microsoft.com/office/drawing/2014/main" id="{468DE48D-825F-4B94-B94E-6223BE444D6F}"/>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2612297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837795-2492-4DC4-A212-DD44505EBEE3}"/>
              </a:ext>
            </a:extLst>
          </p:cNvPr>
          <p:cNvSpPr>
            <a:spLocks noGrp="1"/>
          </p:cNvSpPr>
          <p:nvPr>
            <p:ph type="ctrTitle"/>
          </p:nvPr>
        </p:nvSpPr>
        <p:spPr>
          <a:xfrm>
            <a:off x="1524000" y="1275443"/>
            <a:ext cx="9144000" cy="430887"/>
          </a:xfrm>
        </p:spPr>
        <p:txBody>
          <a:bodyPr/>
          <a:lstStyle/>
          <a:p>
            <a:r>
              <a:rPr lang="ru-RU" sz="2800" dirty="0">
                <a:latin typeface="+mj-lt"/>
              </a:rPr>
              <a:t>Функціональне моделювання — Діаграма прецедентів</a:t>
            </a:r>
            <a:endParaRPr lang="LID4096" sz="2800" dirty="0">
              <a:latin typeface="+mj-lt"/>
            </a:endParaRPr>
          </a:p>
        </p:txBody>
      </p:sp>
      <p:sp>
        <p:nvSpPr>
          <p:cNvPr id="6" name="Rectangle 1">
            <a:extLst>
              <a:ext uri="{FF2B5EF4-FFF2-40B4-BE49-F238E27FC236}">
                <a16:creationId xmlns:a16="http://schemas.microsoft.com/office/drawing/2014/main" id="{10F127D3-DF0B-408F-BB1D-3EB95290E9CE}"/>
              </a:ext>
            </a:extLst>
          </p:cNvPr>
          <p:cNvSpPr>
            <a:spLocks noGrp="1" noChangeArrowheads="1"/>
          </p:cNvSpPr>
          <p:nvPr>
            <p:ph type="subTitle" idx="1"/>
          </p:nvPr>
        </p:nvSpPr>
        <p:spPr bwMode="auto">
          <a:xfrm>
            <a:off x="721217" y="2311884"/>
            <a:ext cx="5964808"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Основні актори системи (Actors):</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Користувач (User) — авторизований клієнт із доступом до персонального простору.</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Адміністратор (Admin) — </a:t>
            </a:r>
            <a:r>
              <a:rPr kumimoji="0" lang="uk-UA"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наслідує весь функціонал користувача але з</a:t>
            </a:r>
            <a: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uk-UA"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можливістю блокування та керуванням користувачами</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pic>
        <p:nvPicPr>
          <p:cNvPr id="10" name="Рисунок 9">
            <a:extLst>
              <a:ext uri="{FF2B5EF4-FFF2-40B4-BE49-F238E27FC236}">
                <a16:creationId xmlns:a16="http://schemas.microsoft.com/office/drawing/2014/main" id="{C4BDF7F6-E531-43F5-9994-116AF115F6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2748" y="1885168"/>
            <a:ext cx="4398067" cy="4091671"/>
          </a:xfrm>
          <a:prstGeom prst="rect">
            <a:avLst/>
          </a:prstGeom>
        </p:spPr>
      </p:pic>
      <p:sp>
        <p:nvSpPr>
          <p:cNvPr id="12" name="TextBox 11">
            <a:extLst>
              <a:ext uri="{FF2B5EF4-FFF2-40B4-BE49-F238E27FC236}">
                <a16:creationId xmlns:a16="http://schemas.microsoft.com/office/drawing/2014/main" id="{868C26CC-9F45-4E6E-893D-0C294C502EFE}"/>
              </a:ext>
            </a:extLst>
          </p:cNvPr>
          <p:cNvSpPr txBox="1"/>
          <p:nvPr/>
        </p:nvSpPr>
        <p:spPr>
          <a:xfrm>
            <a:off x="6010711" y="6413275"/>
            <a:ext cx="6098796" cy="369332"/>
          </a:xfrm>
          <a:prstGeom prst="rect">
            <a:avLst/>
          </a:prstGeom>
          <a:noFill/>
        </p:spPr>
        <p:txBody>
          <a:bodyPr wrap="square">
            <a:spAutoFit/>
          </a:bodyPr>
          <a:lstStyle/>
          <a:p>
            <a:pPr algn="r"/>
            <a:r>
              <a:rPr lang="en-US" sz="1800" dirty="0">
                <a:solidFill>
                  <a:schemeClr val="bg1"/>
                </a:solidFill>
              </a:rPr>
              <a:t>7/</a:t>
            </a:r>
            <a:r>
              <a:rPr lang="uk-UA" dirty="0">
                <a:solidFill>
                  <a:schemeClr val="bg1"/>
                </a:solidFill>
              </a:rPr>
              <a:t>22</a:t>
            </a:r>
            <a:endParaRPr lang="uk-UA" sz="1800" dirty="0">
              <a:solidFill>
                <a:schemeClr val="bg1"/>
              </a:solidFill>
            </a:endParaRPr>
          </a:p>
        </p:txBody>
      </p:sp>
      <p:sp>
        <p:nvSpPr>
          <p:cNvPr id="13" name="TextBox 12">
            <a:extLst>
              <a:ext uri="{FF2B5EF4-FFF2-40B4-BE49-F238E27FC236}">
                <a16:creationId xmlns:a16="http://schemas.microsoft.com/office/drawing/2014/main" id="{875D6BEC-85BA-4443-95F2-5E8FA5C30278}"/>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4161825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D8B042-E2C7-47F5-A183-54678E7B827B}"/>
              </a:ext>
            </a:extLst>
          </p:cNvPr>
          <p:cNvSpPr>
            <a:spLocks noGrp="1"/>
          </p:cNvSpPr>
          <p:nvPr>
            <p:ph type="ctrTitle"/>
          </p:nvPr>
        </p:nvSpPr>
        <p:spPr>
          <a:xfrm>
            <a:off x="1414943" y="1317388"/>
            <a:ext cx="9144000" cy="430887"/>
          </a:xfrm>
        </p:spPr>
        <p:txBody>
          <a:bodyPr/>
          <a:lstStyle/>
          <a:p>
            <a:r>
              <a:rPr lang="ru-RU" sz="2800" dirty="0"/>
              <a:t>Структурне моделювання даних-</a:t>
            </a:r>
            <a:r>
              <a:rPr lang="en-US" sz="2800" dirty="0"/>
              <a:t>ER </a:t>
            </a:r>
            <a:r>
              <a:rPr lang="uk-UA" sz="2800" dirty="0"/>
              <a:t>діаграма</a:t>
            </a:r>
            <a:endParaRPr lang="LID4096" sz="2800" dirty="0"/>
          </a:p>
        </p:txBody>
      </p:sp>
      <p:pic>
        <p:nvPicPr>
          <p:cNvPr id="9" name="Рисунок 8">
            <a:extLst>
              <a:ext uri="{FF2B5EF4-FFF2-40B4-BE49-F238E27FC236}">
                <a16:creationId xmlns:a16="http://schemas.microsoft.com/office/drawing/2014/main" id="{531307D0-49AE-49F7-A4AD-2FAC47C694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6598" y="1946246"/>
            <a:ext cx="4419588" cy="4227133"/>
          </a:xfrm>
          <a:prstGeom prst="rect">
            <a:avLst/>
          </a:prstGeom>
        </p:spPr>
      </p:pic>
      <p:sp>
        <p:nvSpPr>
          <p:cNvPr id="10" name="Rectangle 1">
            <a:extLst>
              <a:ext uri="{FF2B5EF4-FFF2-40B4-BE49-F238E27FC236}">
                <a16:creationId xmlns:a16="http://schemas.microsoft.com/office/drawing/2014/main" id="{3A5ADF93-62F9-4CB6-896C-FA9C039D238D}"/>
              </a:ext>
            </a:extLst>
          </p:cNvPr>
          <p:cNvSpPr>
            <a:spLocks noGrp="1" noChangeArrowheads="1"/>
          </p:cNvSpPr>
          <p:nvPr>
            <p:ph type="subTitle" idx="1"/>
          </p:nvPr>
        </p:nvSpPr>
        <p:spPr bwMode="auto">
          <a:xfrm>
            <a:off x="299207" y="2102912"/>
            <a:ext cx="7383753" cy="324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Структурна матриця сутностей сховища:</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Users: id (PK), full_name, email (Unique), password_hash, role</a:t>
            </a:r>
            <a:r>
              <a:rPr lang="en-US" altLang="LID4096" sz="1600" dirty="0">
                <a:solidFill>
                  <a:schemeClr val="tx1"/>
                </a:solidFill>
                <a:latin typeface="Arial" panose="020B0604020202020204" pitchFamily="34" charset="0"/>
                <a:cs typeface="Arial" panose="020B0604020202020204" pitchFamily="34" charset="0"/>
              </a:rPr>
              <a:t>, avatar_path</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Events: id (PK), title, start_time, end_time, user_id (FK), category_id (FK),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reminder_sent</a:t>
            </a:r>
            <a:r>
              <a:rPr lang="en-US" altLang="LID4096" sz="1600" dirty="0">
                <a:solidFill>
                  <a:schemeClr val="tx1"/>
                </a:solidFill>
                <a:latin typeface="Arial" panose="020B0604020202020204" pitchFamily="34" charset="0"/>
                <a:cs typeface="Arial" panose="020B0604020202020204" pitchFamily="34" charset="0"/>
              </a:rPr>
              <a:t>,is_completed</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Categories: id (PK), name, color_code, user_id (FK, Nullable).</a:t>
            </a:r>
          </a:p>
          <a:p>
            <a:pPr marR="0" lvl="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Обмеження посиланної цілісності :</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Зв'язок Users ➔ Events: відношення 1:N. Конфігурація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ON DELETE CASCADE (при видаленні користувача його події автоматично</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очищуються з метою оптимізації пам'яті).</a:t>
            </a:r>
          </a:p>
          <a:p>
            <a:pPr marR="0" lvl="0" algn="l" defTabSz="914400" rtl="0" eaLnBrk="0" fontAlgn="base" latinLnBrk="0" hangingPunct="0">
              <a:lnSpc>
                <a:spcPct val="100000"/>
              </a:lnSpc>
              <a:spcBef>
                <a:spcPct val="0"/>
              </a:spcBef>
              <a:spcAft>
                <a:spcPct val="0"/>
              </a:spcAft>
              <a:buClrTx/>
              <a:buSzTx/>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Зв'язок Categories ➔ Events: відношення 1:N.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Конфігурація ON DELETE SET NULL (при видаленні категорії подія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зберігається в календарі, втрачаючи лише колірний маркер).</a:t>
            </a:r>
          </a:p>
          <a:p>
            <a:pPr marR="0" lvl="0" algn="l" defTabSz="914400" rtl="0" eaLnBrk="0" fontAlgn="base" latinLnBrk="0" hangingPunct="0">
              <a:lnSpc>
                <a:spcPct val="100000"/>
              </a:lnSpc>
              <a:spcBef>
                <a:spcPct val="0"/>
              </a:spcBef>
              <a:spcAft>
                <a:spcPct val="0"/>
              </a:spcAft>
              <a:buClrTx/>
              <a:buSzTx/>
              <a:tabLst/>
            </a:pPr>
            <a:endParaRPr kumimoji="0" lang="LID4096" altLang="LID4096" sz="1600" b="0" i="0" u="none" strike="noStrike" cap="none" normalizeH="0" baseline="0" dirty="0">
              <a:ln>
                <a:noFill/>
              </a:ln>
              <a:solidFill>
                <a:schemeClr val="tx1"/>
              </a:solidFill>
              <a:effectLst/>
              <a:latin typeface="+mj-lt"/>
            </a:endParaRPr>
          </a:p>
        </p:txBody>
      </p:sp>
      <p:sp>
        <p:nvSpPr>
          <p:cNvPr id="12" name="TextBox 11">
            <a:extLst>
              <a:ext uri="{FF2B5EF4-FFF2-40B4-BE49-F238E27FC236}">
                <a16:creationId xmlns:a16="http://schemas.microsoft.com/office/drawing/2014/main" id="{6F197346-8AD8-4F70-A17F-C0F56B9299D7}"/>
              </a:ext>
            </a:extLst>
          </p:cNvPr>
          <p:cNvSpPr txBox="1"/>
          <p:nvPr/>
        </p:nvSpPr>
        <p:spPr>
          <a:xfrm>
            <a:off x="6093204" y="6488668"/>
            <a:ext cx="6098796" cy="369332"/>
          </a:xfrm>
          <a:prstGeom prst="rect">
            <a:avLst/>
          </a:prstGeom>
          <a:noFill/>
        </p:spPr>
        <p:txBody>
          <a:bodyPr wrap="square">
            <a:spAutoFit/>
          </a:bodyPr>
          <a:lstStyle/>
          <a:p>
            <a:pPr algn="r"/>
            <a:r>
              <a:rPr lang="en-US" sz="1800" dirty="0">
                <a:solidFill>
                  <a:schemeClr val="bg1"/>
                </a:solidFill>
              </a:rPr>
              <a:t>8/</a:t>
            </a:r>
            <a:r>
              <a:rPr lang="uk-UA" dirty="0">
                <a:solidFill>
                  <a:schemeClr val="bg1"/>
                </a:solidFill>
              </a:rPr>
              <a:t>22</a:t>
            </a:r>
            <a:endParaRPr lang="uk-UA" sz="1800" dirty="0">
              <a:solidFill>
                <a:schemeClr val="bg1"/>
              </a:solidFill>
            </a:endParaRPr>
          </a:p>
        </p:txBody>
      </p:sp>
      <p:sp>
        <p:nvSpPr>
          <p:cNvPr id="13" name="TextBox 12">
            <a:extLst>
              <a:ext uri="{FF2B5EF4-FFF2-40B4-BE49-F238E27FC236}">
                <a16:creationId xmlns:a16="http://schemas.microsoft.com/office/drawing/2014/main" id="{A9327E58-463F-4133-A799-842940F6BDA9}"/>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2355874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D9912B-E9D6-4BF0-A64E-537757E570AF}"/>
              </a:ext>
            </a:extLst>
          </p:cNvPr>
          <p:cNvSpPr>
            <a:spLocks noGrp="1"/>
          </p:cNvSpPr>
          <p:nvPr>
            <p:ph type="ctrTitle"/>
          </p:nvPr>
        </p:nvSpPr>
        <p:spPr>
          <a:xfrm>
            <a:off x="1624667" y="1231883"/>
            <a:ext cx="9144000" cy="430887"/>
          </a:xfrm>
        </p:spPr>
        <p:txBody>
          <a:bodyPr/>
          <a:lstStyle/>
          <a:p>
            <a:r>
              <a:rPr lang="ru-RU" sz="2800" dirty="0">
                <a:latin typeface="+mj-lt"/>
              </a:rPr>
              <a:t>Діаграма класів </a:t>
            </a:r>
            <a:r>
              <a:rPr lang="en-US" sz="2800" dirty="0">
                <a:latin typeface="+mj-lt"/>
              </a:rPr>
              <a:t>UML</a:t>
            </a:r>
            <a:endParaRPr lang="LID4096" sz="2800" dirty="0">
              <a:latin typeface="+mj-lt"/>
            </a:endParaRPr>
          </a:p>
        </p:txBody>
      </p:sp>
      <p:sp>
        <p:nvSpPr>
          <p:cNvPr id="6" name="TextBox 5">
            <a:extLst>
              <a:ext uri="{FF2B5EF4-FFF2-40B4-BE49-F238E27FC236}">
                <a16:creationId xmlns:a16="http://schemas.microsoft.com/office/drawing/2014/main" id="{DFA279B2-9023-40B3-B5AF-7428630FF854}"/>
              </a:ext>
            </a:extLst>
          </p:cNvPr>
          <p:cNvSpPr txBox="1"/>
          <p:nvPr/>
        </p:nvSpPr>
        <p:spPr>
          <a:xfrm>
            <a:off x="6093204" y="6413275"/>
            <a:ext cx="6098796" cy="369332"/>
          </a:xfrm>
          <a:prstGeom prst="rect">
            <a:avLst/>
          </a:prstGeom>
          <a:noFill/>
        </p:spPr>
        <p:txBody>
          <a:bodyPr wrap="square">
            <a:spAutoFit/>
          </a:bodyPr>
          <a:lstStyle/>
          <a:p>
            <a:pPr algn="r"/>
            <a:r>
              <a:rPr lang="en-US" sz="1800" dirty="0">
                <a:solidFill>
                  <a:schemeClr val="bg1"/>
                </a:solidFill>
              </a:rPr>
              <a:t>9/</a:t>
            </a:r>
            <a:r>
              <a:rPr lang="uk-UA" dirty="0">
                <a:solidFill>
                  <a:schemeClr val="bg1"/>
                </a:solidFill>
              </a:rPr>
              <a:t>22</a:t>
            </a:r>
            <a:endParaRPr lang="uk-UA" sz="1800" dirty="0">
              <a:solidFill>
                <a:schemeClr val="bg1"/>
              </a:solidFill>
            </a:endParaRPr>
          </a:p>
        </p:txBody>
      </p:sp>
      <p:pic>
        <p:nvPicPr>
          <p:cNvPr id="8" name="Рисунок 7">
            <a:extLst>
              <a:ext uri="{FF2B5EF4-FFF2-40B4-BE49-F238E27FC236}">
                <a16:creationId xmlns:a16="http://schemas.microsoft.com/office/drawing/2014/main" id="{36D10061-7D57-4F48-B703-8F9506F86A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2175" y="1778467"/>
            <a:ext cx="6784841" cy="4481936"/>
          </a:xfrm>
          <a:prstGeom prst="rect">
            <a:avLst/>
          </a:prstGeom>
        </p:spPr>
      </p:pic>
      <p:sp>
        <p:nvSpPr>
          <p:cNvPr id="9" name="Rectangle 2">
            <a:extLst>
              <a:ext uri="{FF2B5EF4-FFF2-40B4-BE49-F238E27FC236}">
                <a16:creationId xmlns:a16="http://schemas.microsoft.com/office/drawing/2014/main" id="{6B4EFBC9-54A2-485C-8485-A999ED850194}"/>
              </a:ext>
            </a:extLst>
          </p:cNvPr>
          <p:cNvSpPr>
            <a:spLocks noChangeArrowheads="1"/>
          </p:cNvSpPr>
          <p:nvPr/>
        </p:nvSpPr>
        <p:spPr bwMode="auto">
          <a:xfrm>
            <a:off x="0" y="1901578"/>
            <a:ext cx="5352175"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Ключові компоненти:</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AuthService:</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централізована логіка безпеки, включаючи реєстрацію та механізм відновлення доступу (forgot_password).</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User / Event / Category:</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сутності даних, що містять метадані користувача, часові проміжки та параметри візуалізації</a:t>
            </a:r>
            <a:r>
              <a:rPr lang="en-US" altLang="LID4096" sz="1600" dirty="0">
                <a:solidFill>
                  <a:schemeClr val="tx1"/>
                </a:solidFill>
                <a:latin typeface="Arial" panose="020B0604020202020204" pitchFamily="34" charset="0"/>
                <a:cs typeface="Arial" panose="020B0604020202020204" pitchFamily="34" charset="0"/>
              </a:rPr>
              <a:t>.</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EventService:</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управління життєвим циклом подій із підтримкою статусів виконання (is_completed) та контролю сповіщень (reminder_sent).</a:t>
            </a:r>
          </a:p>
          <a:p>
            <a:pPr marL="0" marR="0" lvl="0" indent="0" algn="l" defTabSz="914400" rtl="0" eaLnBrk="0" fontAlgn="base" latinLnBrk="0" hangingPunct="0">
              <a:lnSpc>
                <a:spcPct val="100000"/>
              </a:lnSpc>
              <a:spcBef>
                <a:spcPct val="0"/>
              </a:spcBef>
              <a:spcAft>
                <a:spcPct val="0"/>
              </a:spcAft>
              <a:buClrTx/>
              <a:buSzTx/>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AnalyticsService:</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спеціалізований модуль для агрегації часових логів та підготовки даних для </a:t>
            </a:r>
            <a:r>
              <a:rPr kumimoji="0" lang="uk-UA"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аналітики</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1F4A2B5E-1FA4-4B1F-808F-83364ECE95A0}"/>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3389086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378190" y="1241447"/>
            <a:ext cx="9144000" cy="1468197"/>
          </a:xfrm>
        </p:spPr>
        <p:txBody>
          <a:bodyPr/>
          <a:lstStyle/>
          <a:p>
            <a:r>
              <a:rPr lang="ru-RU" sz="2800" dirty="0"/>
              <a:t>Опис процесу розробки</a:t>
            </a:r>
            <a:br>
              <a:rPr lang="uk-UA" dirty="0">
                <a:solidFill>
                  <a:srgbClr val="002060"/>
                </a:solidFill>
              </a:rPr>
            </a:br>
            <a:endParaRPr lang="uk-UA" dirty="0"/>
          </a:p>
        </p:txBody>
      </p:sp>
      <p:sp>
        <p:nvSpPr>
          <p:cNvPr id="4" name="TextBox 3"/>
          <p:cNvSpPr txBox="1"/>
          <p:nvPr/>
        </p:nvSpPr>
        <p:spPr>
          <a:xfrm>
            <a:off x="9136251" y="6350230"/>
            <a:ext cx="3029245" cy="461665"/>
          </a:xfrm>
          <a:prstGeom prst="rect">
            <a:avLst/>
          </a:prstGeom>
          <a:noFill/>
        </p:spPr>
        <p:txBody>
          <a:bodyPr wrap="square" rtlCol="0">
            <a:spAutoFit/>
          </a:bodyPr>
          <a:lstStyle/>
          <a:p>
            <a:pPr algn="r"/>
            <a:r>
              <a:rPr lang="en-US" sz="2400" dirty="0">
                <a:solidFill>
                  <a:schemeClr val="bg1"/>
                </a:solidFill>
              </a:rPr>
              <a:t>10/</a:t>
            </a:r>
            <a:r>
              <a:rPr lang="ru-RU" sz="2400" dirty="0">
                <a:solidFill>
                  <a:schemeClr val="bg1"/>
                </a:solidFill>
              </a:rPr>
              <a:t>22</a:t>
            </a:r>
            <a:endParaRPr lang="uk-UA" sz="2400" dirty="0">
              <a:solidFill>
                <a:schemeClr val="bg1"/>
              </a:solidFill>
            </a:endParaRP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8" name="TextBox 7">
            <a:extLst>
              <a:ext uri="{FF2B5EF4-FFF2-40B4-BE49-F238E27FC236}">
                <a16:creationId xmlns:a16="http://schemas.microsoft.com/office/drawing/2014/main" id="{1A5E6BC9-99B8-41DD-ACF7-625C62749703}"/>
              </a:ext>
            </a:extLst>
          </p:cNvPr>
          <p:cNvSpPr txBox="1"/>
          <p:nvPr/>
        </p:nvSpPr>
        <p:spPr>
          <a:xfrm>
            <a:off x="461394" y="2410998"/>
            <a:ext cx="10435905"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15" name="Rectangle 7">
            <a:extLst>
              <a:ext uri="{FF2B5EF4-FFF2-40B4-BE49-F238E27FC236}">
                <a16:creationId xmlns:a16="http://schemas.microsoft.com/office/drawing/2014/main" id="{9C3D049A-7BF2-4E34-80B2-77908C0EFFAC}"/>
              </a:ext>
            </a:extLst>
          </p:cNvPr>
          <p:cNvSpPr>
            <a:spLocks noChangeArrowheads="1"/>
          </p:cNvSpPr>
          <p:nvPr/>
        </p:nvSpPr>
        <p:spPr bwMode="auto">
          <a:xfrm>
            <a:off x="0" y="2564887"/>
            <a:ext cx="1208014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Р</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озробка велась за принципом «спочатку API, потім інтерфейс» — спочатку будувався Flask-бекенд з усіма маршрутами, потім під нього писався фронтенд на чистому JS без жодного фреймворку. Аутентифікація реалізована через JWT-токени, що зберігаються в localStorage. Захист сторінок — клієнтський guard у utils.js, який перевіряє наявність токена як при звичайному завантаженні, так і при відновленні зі bfcache (подія pageshow). База даних проектувалась одразу з урахуванням розширюваності: додавання нових полів (наприклад is_completed, reminder_sent) не вимагало переписування логіки. </a:t>
            </a:r>
          </a:p>
        </p:txBody>
      </p:sp>
    </p:spTree>
    <p:extLst>
      <p:ext uri="{BB962C8B-B14F-4D97-AF65-F5344CB8AC3E}">
        <p14:creationId xmlns:p14="http://schemas.microsoft.com/office/powerpoint/2010/main" val="1215554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C48684-446C-4454-9C23-3014182F209A}"/>
              </a:ext>
            </a:extLst>
          </p:cNvPr>
          <p:cNvSpPr>
            <a:spLocks noGrp="1"/>
          </p:cNvSpPr>
          <p:nvPr>
            <p:ph type="ctrTitle"/>
          </p:nvPr>
        </p:nvSpPr>
        <p:spPr>
          <a:xfrm>
            <a:off x="1414943" y="1163338"/>
            <a:ext cx="9144000" cy="861774"/>
          </a:xfrm>
        </p:spPr>
        <p:txBody>
          <a:bodyPr/>
          <a:lstStyle/>
          <a:p>
            <a:r>
              <a:rPr lang="ru-RU" sz="2800" dirty="0"/>
              <a:t>Використані мови програмування, фреймворки, бібліотеки</a:t>
            </a:r>
            <a:endParaRPr lang="LID4096" sz="2800" dirty="0"/>
          </a:p>
        </p:txBody>
      </p:sp>
      <p:sp>
        <p:nvSpPr>
          <p:cNvPr id="6" name="Rectangle 3">
            <a:extLst>
              <a:ext uri="{FF2B5EF4-FFF2-40B4-BE49-F238E27FC236}">
                <a16:creationId xmlns:a16="http://schemas.microsoft.com/office/drawing/2014/main" id="{4509E56D-A2B0-4695-A0A8-4A795BEBE5EF}"/>
              </a:ext>
            </a:extLst>
          </p:cNvPr>
          <p:cNvSpPr>
            <a:spLocks noGrp="1" noChangeArrowheads="1"/>
          </p:cNvSpPr>
          <p:nvPr>
            <p:ph type="subTitle" idx="1"/>
          </p:nvPr>
        </p:nvSpPr>
        <p:spPr bwMode="auto">
          <a:xfrm>
            <a:off x="55927" y="2713462"/>
            <a:ext cx="1192355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Бекенд:</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Python 3, Flask, Flask-SQLAlchemy, Flask-JWT-Extended, Flask-Mail, PyMySQL, Werkzeug (хешування паролів)</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База даних:</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MySQL — три таблиці: users, categories, events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Фронтенд:</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HTML5, CSS3 (власна дизайн-система на CSS-змінних), Vanilla JavaScript (ES6+), Chart.js (кругова діаграма аналітики), Font Awesome (іконки)</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Інфраструктура:</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Gmail SMTP для email-розсилок (відновлення пароля, нагадування про події), змінні середовища через python-dotenv</a:t>
            </a:r>
          </a:p>
        </p:txBody>
      </p:sp>
      <p:sp>
        <p:nvSpPr>
          <p:cNvPr id="8" name="TextBox 7">
            <a:extLst>
              <a:ext uri="{FF2B5EF4-FFF2-40B4-BE49-F238E27FC236}">
                <a16:creationId xmlns:a16="http://schemas.microsoft.com/office/drawing/2014/main" id="{4A719AF4-AD74-46E2-B856-568AC2465FE3}"/>
              </a:ext>
            </a:extLst>
          </p:cNvPr>
          <p:cNvSpPr txBox="1"/>
          <p:nvPr/>
        </p:nvSpPr>
        <p:spPr>
          <a:xfrm>
            <a:off x="6096000" y="6396497"/>
            <a:ext cx="6098796" cy="369332"/>
          </a:xfrm>
          <a:prstGeom prst="rect">
            <a:avLst/>
          </a:prstGeom>
          <a:noFill/>
        </p:spPr>
        <p:txBody>
          <a:bodyPr wrap="square">
            <a:spAutoFit/>
          </a:bodyPr>
          <a:lstStyle/>
          <a:p>
            <a:pPr algn="r"/>
            <a:r>
              <a:rPr lang="en-US" sz="1800" dirty="0">
                <a:solidFill>
                  <a:schemeClr val="bg1"/>
                </a:solidFill>
              </a:rPr>
              <a:t>11/</a:t>
            </a:r>
            <a:r>
              <a:rPr lang="ru-RU" sz="1800" dirty="0">
                <a:solidFill>
                  <a:schemeClr val="bg1"/>
                </a:solidFill>
              </a:rPr>
              <a:t>22</a:t>
            </a:r>
            <a:endParaRPr lang="uk-UA" sz="1800" dirty="0">
              <a:solidFill>
                <a:schemeClr val="bg1"/>
              </a:solidFill>
            </a:endParaRPr>
          </a:p>
        </p:txBody>
      </p:sp>
      <p:sp>
        <p:nvSpPr>
          <p:cNvPr id="9" name="TextBox 8">
            <a:extLst>
              <a:ext uri="{FF2B5EF4-FFF2-40B4-BE49-F238E27FC236}">
                <a16:creationId xmlns:a16="http://schemas.microsoft.com/office/drawing/2014/main" id="{9546D964-B044-47ED-9D14-1D0ADE9AB4F3}"/>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353736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2A4486-3169-48A4-885D-FCD2BBEFCE9A}"/>
              </a:ext>
            </a:extLst>
          </p:cNvPr>
          <p:cNvSpPr>
            <a:spLocks noGrp="1"/>
          </p:cNvSpPr>
          <p:nvPr>
            <p:ph type="ctrTitle"/>
          </p:nvPr>
        </p:nvSpPr>
        <p:spPr>
          <a:xfrm>
            <a:off x="1524000" y="1264221"/>
            <a:ext cx="9144000" cy="492443"/>
          </a:xfrm>
        </p:spPr>
        <p:txBody>
          <a:bodyPr/>
          <a:lstStyle/>
          <a:p>
            <a:r>
              <a:rPr lang="ru-RU" sz="3200" dirty="0"/>
              <a:t>Ключові фрагменти коду</a:t>
            </a:r>
            <a:endParaRPr lang="LID4096" sz="8800" dirty="0"/>
          </a:p>
        </p:txBody>
      </p:sp>
      <p:sp>
        <p:nvSpPr>
          <p:cNvPr id="5" name="Rectangle 2">
            <a:extLst>
              <a:ext uri="{FF2B5EF4-FFF2-40B4-BE49-F238E27FC236}">
                <a16:creationId xmlns:a16="http://schemas.microsoft.com/office/drawing/2014/main" id="{09A0762F-FA4B-4472-87D9-FEA1D22D7593}"/>
              </a:ext>
            </a:extLst>
          </p:cNvPr>
          <p:cNvSpPr>
            <a:spLocks noChangeArrowheads="1"/>
          </p:cNvSpPr>
          <p:nvPr/>
        </p:nvSpPr>
        <p:spPr bwMode="auto">
          <a:xfrm>
            <a:off x="167778" y="2047163"/>
            <a:ext cx="684541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 Guard захисту сторінок (utils.js)</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Пояснення: e.persisted — прапор bfcache, спрацьовує коли браузер відновлює сторінку з кешу по кнопці «назад» після виходу з акаунту.</a:t>
            </a:r>
            <a:r>
              <a:rPr kumimoji="0" lang="uk-UA"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 Зроблено для того щоб при виході з акаунту користувач не міг зайти назад без повторної авторизації.</a:t>
            </a:r>
          </a:p>
          <a:p>
            <a:pPr marL="0" marR="0" lvl="0" indent="0" algn="l" defTabSz="914400" rtl="0" eaLnBrk="0" fontAlgn="base" latinLnBrk="0" hangingPunct="0">
              <a:lnSpc>
                <a:spcPct val="100000"/>
              </a:lnSpc>
              <a:spcBef>
                <a:spcPct val="0"/>
              </a:spcBef>
              <a:spcAft>
                <a:spcPct val="0"/>
              </a:spcAft>
              <a:buClrTx/>
              <a:buSzTx/>
              <a:buFontTx/>
              <a:buNone/>
              <a:tabLst/>
            </a:pPr>
            <a:endParaRPr lang="uk-UA" altLang="LID4096" sz="1600" i="1" dirty="0">
              <a:solidFill>
                <a:schemeClr val="tx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uk-UA"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uk-UA" altLang="LID4096" sz="1600" i="1" dirty="0">
              <a:solidFill>
                <a:schemeClr val="tx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uk-UA"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uk-UA" altLang="LID4096" sz="1600" i="1" dirty="0">
              <a:solidFill>
                <a:schemeClr val="tx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 Генерація тимчасового пароля (app.py)</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Пояснення: при запиті відновлення генерується 10-символьний пароль, хешується і зберігається в БД, оригінал надсилається на пошту.</a:t>
            </a:r>
            <a:r>
              <a:rPr kumimoji="0" lang="uk-UA" altLang="LID4096"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 Зроблено для випадку якщо користувач забув свій пароль.</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11" name="Рисунок 10">
            <a:extLst>
              <a:ext uri="{FF2B5EF4-FFF2-40B4-BE49-F238E27FC236}">
                <a16:creationId xmlns:a16="http://schemas.microsoft.com/office/drawing/2014/main" id="{7019C4B7-F440-4E5F-BC9C-0F2B3283D9BB}"/>
              </a:ext>
            </a:extLst>
          </p:cNvPr>
          <p:cNvPicPr>
            <a:picLocks noChangeAspect="1"/>
          </p:cNvPicPr>
          <p:nvPr/>
        </p:nvPicPr>
        <p:blipFill>
          <a:blip r:embed="rId2"/>
          <a:stretch>
            <a:fillRect/>
          </a:stretch>
        </p:blipFill>
        <p:spPr>
          <a:xfrm>
            <a:off x="7089613" y="1756664"/>
            <a:ext cx="4791075" cy="1504950"/>
          </a:xfrm>
          <a:prstGeom prst="rect">
            <a:avLst/>
          </a:prstGeom>
        </p:spPr>
      </p:pic>
      <p:pic>
        <p:nvPicPr>
          <p:cNvPr id="13" name="Рисунок 12">
            <a:extLst>
              <a:ext uri="{FF2B5EF4-FFF2-40B4-BE49-F238E27FC236}">
                <a16:creationId xmlns:a16="http://schemas.microsoft.com/office/drawing/2014/main" id="{C68F38F7-31F2-42CB-8D1F-8EAAB6CF8CF4}"/>
              </a:ext>
            </a:extLst>
          </p:cNvPr>
          <p:cNvPicPr>
            <a:picLocks noChangeAspect="1"/>
          </p:cNvPicPr>
          <p:nvPr/>
        </p:nvPicPr>
        <p:blipFill>
          <a:blip r:embed="rId3"/>
          <a:stretch>
            <a:fillRect/>
          </a:stretch>
        </p:blipFill>
        <p:spPr>
          <a:xfrm>
            <a:off x="7089612" y="3429000"/>
            <a:ext cx="4791075" cy="2840365"/>
          </a:xfrm>
          <a:prstGeom prst="rect">
            <a:avLst/>
          </a:prstGeom>
        </p:spPr>
      </p:pic>
      <p:sp>
        <p:nvSpPr>
          <p:cNvPr id="15" name="TextBox 14">
            <a:extLst>
              <a:ext uri="{FF2B5EF4-FFF2-40B4-BE49-F238E27FC236}">
                <a16:creationId xmlns:a16="http://schemas.microsoft.com/office/drawing/2014/main" id="{3FDAAD1C-9FB2-4C64-8BEC-B866C3D26AA6}"/>
              </a:ext>
            </a:extLst>
          </p:cNvPr>
          <p:cNvSpPr txBox="1"/>
          <p:nvPr/>
        </p:nvSpPr>
        <p:spPr>
          <a:xfrm>
            <a:off x="6093204" y="6436751"/>
            <a:ext cx="6098796" cy="369332"/>
          </a:xfrm>
          <a:prstGeom prst="rect">
            <a:avLst/>
          </a:prstGeom>
          <a:noFill/>
        </p:spPr>
        <p:txBody>
          <a:bodyPr wrap="square">
            <a:spAutoFit/>
          </a:bodyPr>
          <a:lstStyle/>
          <a:p>
            <a:pPr algn="r"/>
            <a:r>
              <a:rPr lang="en-US" sz="1800" dirty="0">
                <a:solidFill>
                  <a:schemeClr val="bg1"/>
                </a:solidFill>
              </a:rPr>
              <a:t>12/22</a:t>
            </a:r>
            <a:endParaRPr lang="uk-UA" sz="1800" dirty="0">
              <a:solidFill>
                <a:schemeClr val="bg1"/>
              </a:solidFill>
            </a:endParaRPr>
          </a:p>
        </p:txBody>
      </p:sp>
      <p:sp>
        <p:nvSpPr>
          <p:cNvPr id="16" name="TextBox 15">
            <a:extLst>
              <a:ext uri="{FF2B5EF4-FFF2-40B4-BE49-F238E27FC236}">
                <a16:creationId xmlns:a16="http://schemas.microsoft.com/office/drawing/2014/main" id="{994DB4AF-2BCC-4D3A-A7BD-D89AAD0F4646}"/>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382003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Рисунок 13">
            <a:extLst>
              <a:ext uri="{FF2B5EF4-FFF2-40B4-BE49-F238E27FC236}">
                <a16:creationId xmlns:a16="http://schemas.microsoft.com/office/drawing/2014/main" id="{467C571F-8A89-4841-B3F3-F9C3804AB9B0}"/>
              </a:ext>
            </a:extLst>
          </p:cNvPr>
          <p:cNvPicPr>
            <a:picLocks noChangeAspect="1"/>
          </p:cNvPicPr>
          <p:nvPr/>
        </p:nvPicPr>
        <p:blipFill>
          <a:blip r:embed="rId2"/>
          <a:stretch>
            <a:fillRect/>
          </a:stretch>
        </p:blipFill>
        <p:spPr>
          <a:xfrm>
            <a:off x="4879991" y="2747873"/>
            <a:ext cx="4501305" cy="2763493"/>
          </a:xfrm>
          <a:prstGeom prst="rect">
            <a:avLst/>
          </a:prstGeom>
        </p:spPr>
      </p:pic>
      <p:sp>
        <p:nvSpPr>
          <p:cNvPr id="2" name="Заголовок 1">
            <a:extLst>
              <a:ext uri="{FF2B5EF4-FFF2-40B4-BE49-F238E27FC236}">
                <a16:creationId xmlns:a16="http://schemas.microsoft.com/office/drawing/2014/main" id="{23AB3660-D8B9-4995-B675-B82BF5A237A4}"/>
              </a:ext>
            </a:extLst>
          </p:cNvPr>
          <p:cNvSpPr>
            <a:spLocks noGrp="1"/>
          </p:cNvSpPr>
          <p:nvPr>
            <p:ph type="ctrTitle"/>
          </p:nvPr>
        </p:nvSpPr>
        <p:spPr>
          <a:xfrm>
            <a:off x="1524000" y="1384756"/>
            <a:ext cx="9144000" cy="430887"/>
          </a:xfrm>
        </p:spPr>
        <p:txBody>
          <a:bodyPr/>
          <a:lstStyle/>
          <a:p>
            <a:r>
              <a:rPr lang="ru-RU" sz="2800" dirty="0"/>
              <a:t>Інтерфейс: основні екрани</a:t>
            </a:r>
            <a:endParaRPr lang="LID4096" sz="2800" dirty="0"/>
          </a:p>
        </p:txBody>
      </p:sp>
      <p:sp>
        <p:nvSpPr>
          <p:cNvPr id="4" name="Rectangle 1">
            <a:extLst>
              <a:ext uri="{FF2B5EF4-FFF2-40B4-BE49-F238E27FC236}">
                <a16:creationId xmlns:a16="http://schemas.microsoft.com/office/drawing/2014/main" id="{FD6A665C-DAB8-4930-865F-1401E7610B5A}"/>
              </a:ext>
            </a:extLst>
          </p:cNvPr>
          <p:cNvSpPr>
            <a:spLocks noGrp="1" noChangeArrowheads="1"/>
          </p:cNvSpPr>
          <p:nvPr>
            <p:ph type="subTitle" idx="1"/>
          </p:nvPr>
        </p:nvSpPr>
        <p:spPr bwMode="auto">
          <a:xfrm>
            <a:off x="0" y="1895858"/>
            <a:ext cx="506135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ru-RU" sz="1600" dirty="0">
                <a:solidFill>
                  <a:schemeClr val="tx1"/>
                </a:solidFill>
                <a:latin typeface="Arial" panose="020B0604020202020204" pitchFamily="34" charset="0"/>
                <a:cs typeface="Arial" panose="020B0604020202020204" pitchFamily="34" charset="0"/>
              </a:rPr>
              <a:t>На скріншоті представлено два ключові екрани системи. Календар відображає події</a:t>
            </a:r>
            <a:r>
              <a:rPr lang="en-US" sz="1600" dirty="0">
                <a:solidFill>
                  <a:schemeClr val="tx1"/>
                </a:solidFill>
                <a:latin typeface="Arial" panose="020B0604020202020204" pitchFamily="34" charset="0"/>
                <a:cs typeface="Arial" panose="020B0604020202020204" pitchFamily="34" charset="0"/>
              </a:rPr>
              <a:t> </a:t>
            </a:r>
            <a:r>
              <a:rPr lang="ru-RU" sz="1600" dirty="0">
                <a:solidFill>
                  <a:schemeClr val="tx1"/>
                </a:solidFill>
                <a:latin typeface="Arial" panose="020B0604020202020204" pitchFamily="34" charset="0"/>
                <a:cs typeface="Arial" panose="020B0604020202020204" pitchFamily="34" charset="0"/>
              </a:rPr>
              <a:t>безпосередньо в клітинках днів і розфарбовані відповідно до категорії користувача (синій — «Робота», червоний — «Задача курсової», сірий — виконана подія «Спортзал»). Клік на подію відкриває форму редагування.</a:t>
            </a:r>
          </a:p>
          <a:p>
            <a:pPr algn="l"/>
            <a:r>
              <a:rPr lang="ru-RU" sz="1600" dirty="0">
                <a:solidFill>
                  <a:schemeClr val="tx1"/>
                </a:solidFill>
                <a:latin typeface="Arial" panose="020B0604020202020204" pitchFamily="34" charset="0"/>
                <a:cs typeface="Arial" panose="020B0604020202020204" pitchFamily="34" charset="0"/>
              </a:rPr>
              <a:t>Поруч показано модальне вікно відновлення пароля — користувач вводить свою електронну пошту, після чого система автоматично генерує тимчасовий пароль, зберігає його хеш у базі даних і надсилає оригінал листом через </a:t>
            </a:r>
            <a:r>
              <a:rPr lang="en-US" sz="1600" dirty="0">
                <a:solidFill>
                  <a:schemeClr val="tx1"/>
                </a:solidFill>
                <a:latin typeface="Arial" panose="020B0604020202020204" pitchFamily="34" charset="0"/>
                <a:cs typeface="Arial" panose="020B0604020202020204" pitchFamily="34" charset="0"/>
              </a:rPr>
              <a:t>Gmail SMTP. </a:t>
            </a:r>
            <a:r>
              <a:rPr lang="ru-RU" sz="1600" dirty="0">
                <a:solidFill>
                  <a:schemeClr val="tx1"/>
                </a:solidFill>
                <a:latin typeface="Arial" panose="020B0604020202020204" pitchFamily="34" charset="0"/>
                <a:cs typeface="Arial" panose="020B0604020202020204" pitchFamily="34" charset="0"/>
              </a:rPr>
              <a:t>Якщо вказаної пошти немає в системі — одразу з'являється повідомлення про помилку під полем вводу.</a:t>
            </a:r>
          </a:p>
        </p:txBody>
      </p:sp>
      <p:pic>
        <p:nvPicPr>
          <p:cNvPr id="16" name="Рисунок 15">
            <a:extLst>
              <a:ext uri="{FF2B5EF4-FFF2-40B4-BE49-F238E27FC236}">
                <a16:creationId xmlns:a16="http://schemas.microsoft.com/office/drawing/2014/main" id="{D32BA850-1CF3-4EC8-B5CB-B145131F1AC4}"/>
              </a:ext>
            </a:extLst>
          </p:cNvPr>
          <p:cNvPicPr>
            <a:picLocks noChangeAspect="1"/>
          </p:cNvPicPr>
          <p:nvPr/>
        </p:nvPicPr>
        <p:blipFill>
          <a:blip r:embed="rId3"/>
          <a:stretch>
            <a:fillRect/>
          </a:stretch>
        </p:blipFill>
        <p:spPr>
          <a:xfrm>
            <a:off x="9441227" y="2747873"/>
            <a:ext cx="2675272" cy="2725371"/>
          </a:xfrm>
          <a:prstGeom prst="rect">
            <a:avLst/>
          </a:prstGeom>
        </p:spPr>
      </p:pic>
      <p:sp>
        <p:nvSpPr>
          <p:cNvPr id="18" name="TextBox 17">
            <a:extLst>
              <a:ext uri="{FF2B5EF4-FFF2-40B4-BE49-F238E27FC236}">
                <a16:creationId xmlns:a16="http://schemas.microsoft.com/office/drawing/2014/main" id="{8AFFC90F-4E6A-4393-9C3D-9209282E682D}"/>
              </a:ext>
            </a:extLst>
          </p:cNvPr>
          <p:cNvSpPr txBox="1"/>
          <p:nvPr/>
        </p:nvSpPr>
        <p:spPr>
          <a:xfrm>
            <a:off x="6076426" y="6405474"/>
            <a:ext cx="6115574" cy="369332"/>
          </a:xfrm>
          <a:prstGeom prst="rect">
            <a:avLst/>
          </a:prstGeom>
          <a:noFill/>
        </p:spPr>
        <p:txBody>
          <a:bodyPr wrap="square">
            <a:spAutoFit/>
          </a:bodyPr>
          <a:lstStyle/>
          <a:p>
            <a:pPr algn="r"/>
            <a:r>
              <a:rPr lang="en-US" sz="1800" dirty="0">
                <a:solidFill>
                  <a:schemeClr val="bg1"/>
                </a:solidFill>
              </a:rPr>
              <a:t>13/22</a:t>
            </a:r>
            <a:endParaRPr lang="uk-UA" sz="1800" dirty="0">
              <a:solidFill>
                <a:schemeClr val="bg1"/>
              </a:solidFill>
            </a:endParaRPr>
          </a:p>
        </p:txBody>
      </p:sp>
      <p:sp>
        <p:nvSpPr>
          <p:cNvPr id="19" name="TextBox 18">
            <a:extLst>
              <a:ext uri="{FF2B5EF4-FFF2-40B4-BE49-F238E27FC236}">
                <a16:creationId xmlns:a16="http://schemas.microsoft.com/office/drawing/2014/main" id="{B45A61BF-08B3-46E9-BE59-F13019F6407D}"/>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1162129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F7A906-ACA9-4E78-B3BB-CE3DC307A61A}"/>
              </a:ext>
            </a:extLst>
          </p:cNvPr>
          <p:cNvSpPr>
            <a:spLocks noGrp="1"/>
          </p:cNvSpPr>
          <p:nvPr>
            <p:ph type="ctrTitle"/>
          </p:nvPr>
        </p:nvSpPr>
        <p:spPr>
          <a:xfrm>
            <a:off x="1524000" y="1225366"/>
            <a:ext cx="9144000" cy="430887"/>
          </a:xfrm>
        </p:spPr>
        <p:txBody>
          <a:bodyPr/>
          <a:lstStyle/>
          <a:p>
            <a:r>
              <a:rPr lang="ru-RU" sz="2800" dirty="0"/>
              <a:t>Інтерфейс: аналітика та категорії</a:t>
            </a:r>
            <a:endParaRPr lang="LID4096" sz="2800" dirty="0"/>
          </a:p>
        </p:txBody>
      </p:sp>
      <p:sp>
        <p:nvSpPr>
          <p:cNvPr id="3" name="Подзаголовок 2">
            <a:extLst>
              <a:ext uri="{FF2B5EF4-FFF2-40B4-BE49-F238E27FC236}">
                <a16:creationId xmlns:a16="http://schemas.microsoft.com/office/drawing/2014/main" id="{9C936FFD-9614-4E65-99DE-9DBFFC2AAF38}"/>
              </a:ext>
            </a:extLst>
          </p:cNvPr>
          <p:cNvSpPr>
            <a:spLocks noGrp="1"/>
          </p:cNvSpPr>
          <p:nvPr>
            <p:ph type="subTitle" idx="1"/>
          </p:nvPr>
        </p:nvSpPr>
        <p:spPr>
          <a:xfrm>
            <a:off x="123038" y="1887523"/>
            <a:ext cx="4155349" cy="4185761"/>
          </a:xfrm>
        </p:spPr>
        <p:txBody>
          <a:bodyPr/>
          <a:lstStyle/>
          <a:p>
            <a:pPr algn="l"/>
            <a:r>
              <a:rPr lang="ru-RU" sz="1600" dirty="0">
                <a:solidFill>
                  <a:schemeClr val="tx1"/>
                </a:solidFill>
                <a:latin typeface="Arial" panose="020B0604020202020204" pitchFamily="34" charset="0"/>
                <a:cs typeface="Arial" panose="020B0604020202020204" pitchFamily="34" charset="0"/>
              </a:rPr>
              <a:t>Сторінка аналітики відображає кругову діаграму (</a:t>
            </a:r>
            <a:r>
              <a:rPr lang="en-US" sz="1600" dirty="0">
                <a:solidFill>
                  <a:schemeClr val="tx1"/>
                </a:solidFill>
                <a:latin typeface="Arial" panose="020B0604020202020204" pitchFamily="34" charset="0"/>
                <a:cs typeface="Arial" panose="020B0604020202020204" pitchFamily="34" charset="0"/>
              </a:rPr>
              <a:t>Chart.js) </a:t>
            </a:r>
            <a:r>
              <a:rPr lang="ru-RU" sz="1600" dirty="0">
                <a:solidFill>
                  <a:schemeClr val="tx1"/>
                </a:solidFill>
                <a:latin typeface="Arial" panose="020B0604020202020204" pitchFamily="34" charset="0"/>
                <a:cs typeface="Arial" panose="020B0604020202020204" pitchFamily="34" charset="0"/>
              </a:rPr>
              <a:t>розподілу часу по категоріях із підрахунком загальної тривалості подій у годинах.</a:t>
            </a: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br>
              <a:rPr lang="en-US" sz="1600" dirty="0">
                <a:solidFill>
                  <a:schemeClr val="tx1"/>
                </a:solidFill>
                <a:latin typeface="Arial" panose="020B0604020202020204" pitchFamily="34" charset="0"/>
                <a:cs typeface="Arial" panose="020B0604020202020204" pitchFamily="34" charset="0"/>
              </a:rPr>
            </a:br>
            <a:r>
              <a:rPr lang="ru-RU" sz="1600" dirty="0">
                <a:solidFill>
                  <a:schemeClr val="tx1"/>
                </a:solidFill>
                <a:latin typeface="Arial" panose="020B0604020202020204" pitchFamily="34" charset="0"/>
                <a:cs typeface="Arial" panose="020B0604020202020204" pitchFamily="34" charset="0"/>
              </a:rPr>
              <a:t> Редактор категорій дозволяє задати назву та колір — цей колір потім відображається на всіх пов'язаних подіях у календарі та списку.</a:t>
            </a:r>
            <a:endParaRPr lang="LID4096" sz="1600" dirty="0">
              <a:solidFill>
                <a:schemeClr val="tx1"/>
              </a:solidFill>
              <a:latin typeface="Arial" panose="020B0604020202020204" pitchFamily="34" charset="0"/>
              <a:cs typeface="Arial" panose="020B0604020202020204" pitchFamily="34" charset="0"/>
            </a:endParaRPr>
          </a:p>
        </p:txBody>
      </p:sp>
      <p:pic>
        <p:nvPicPr>
          <p:cNvPr id="5" name="Рисунок 4">
            <a:extLst>
              <a:ext uri="{FF2B5EF4-FFF2-40B4-BE49-F238E27FC236}">
                <a16:creationId xmlns:a16="http://schemas.microsoft.com/office/drawing/2014/main" id="{F5F07F6C-D522-41F0-82D5-70F153E728DA}"/>
              </a:ext>
            </a:extLst>
          </p:cNvPr>
          <p:cNvPicPr>
            <a:picLocks noChangeAspect="1"/>
          </p:cNvPicPr>
          <p:nvPr/>
        </p:nvPicPr>
        <p:blipFill>
          <a:blip r:embed="rId2"/>
          <a:stretch>
            <a:fillRect/>
          </a:stretch>
        </p:blipFill>
        <p:spPr>
          <a:xfrm>
            <a:off x="4278388" y="1697842"/>
            <a:ext cx="6208128" cy="3139338"/>
          </a:xfrm>
          <a:prstGeom prst="rect">
            <a:avLst/>
          </a:prstGeom>
        </p:spPr>
      </p:pic>
      <p:pic>
        <p:nvPicPr>
          <p:cNvPr id="7" name="Рисунок 6">
            <a:extLst>
              <a:ext uri="{FF2B5EF4-FFF2-40B4-BE49-F238E27FC236}">
                <a16:creationId xmlns:a16="http://schemas.microsoft.com/office/drawing/2014/main" id="{2D9E3024-0E9C-4FE3-A72C-F43DF9441A44}"/>
              </a:ext>
            </a:extLst>
          </p:cNvPr>
          <p:cNvPicPr>
            <a:picLocks noChangeAspect="1"/>
          </p:cNvPicPr>
          <p:nvPr/>
        </p:nvPicPr>
        <p:blipFill>
          <a:blip r:embed="rId3"/>
          <a:stretch>
            <a:fillRect/>
          </a:stretch>
        </p:blipFill>
        <p:spPr>
          <a:xfrm>
            <a:off x="4278388" y="5001062"/>
            <a:ext cx="6208128" cy="1263143"/>
          </a:xfrm>
          <a:prstGeom prst="rect">
            <a:avLst/>
          </a:prstGeom>
        </p:spPr>
      </p:pic>
      <p:sp>
        <p:nvSpPr>
          <p:cNvPr id="9" name="TextBox 8">
            <a:extLst>
              <a:ext uri="{FF2B5EF4-FFF2-40B4-BE49-F238E27FC236}">
                <a16:creationId xmlns:a16="http://schemas.microsoft.com/office/drawing/2014/main" id="{C0ADE86D-FC9D-4669-981C-FCCD69FFAC71}"/>
              </a:ext>
            </a:extLst>
          </p:cNvPr>
          <p:cNvSpPr txBox="1"/>
          <p:nvPr/>
        </p:nvSpPr>
        <p:spPr>
          <a:xfrm>
            <a:off x="5985545" y="6428087"/>
            <a:ext cx="6098796" cy="369332"/>
          </a:xfrm>
          <a:prstGeom prst="rect">
            <a:avLst/>
          </a:prstGeom>
          <a:noFill/>
        </p:spPr>
        <p:txBody>
          <a:bodyPr wrap="square">
            <a:spAutoFit/>
          </a:bodyPr>
          <a:lstStyle/>
          <a:p>
            <a:pPr algn="r"/>
            <a:r>
              <a:rPr lang="en-US" sz="1800" dirty="0">
                <a:solidFill>
                  <a:schemeClr val="bg1"/>
                </a:solidFill>
              </a:rPr>
              <a:t>14/22</a:t>
            </a:r>
            <a:endParaRPr lang="uk-UA" sz="1800" dirty="0">
              <a:solidFill>
                <a:schemeClr val="bg1"/>
              </a:solidFill>
            </a:endParaRPr>
          </a:p>
        </p:txBody>
      </p:sp>
      <p:sp>
        <p:nvSpPr>
          <p:cNvPr id="10" name="TextBox 9">
            <a:extLst>
              <a:ext uri="{FF2B5EF4-FFF2-40B4-BE49-F238E27FC236}">
                <a16:creationId xmlns:a16="http://schemas.microsoft.com/office/drawing/2014/main" id="{A6A487D3-B67C-46A8-AEE7-6A61F6B576DD}"/>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4045644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463040" y="1321295"/>
            <a:ext cx="9144000" cy="1354217"/>
          </a:xfrm>
        </p:spPr>
        <p:txBody>
          <a:bodyPr/>
          <a:lstStyle/>
          <a:p>
            <a:r>
              <a:rPr lang="uk-UA" sz="2800" dirty="0">
                <a:solidFill>
                  <a:srgbClr val="002060"/>
                </a:solidFill>
              </a:rPr>
              <a:t>Методи тестування</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15/</a:t>
            </a:r>
            <a:r>
              <a:rPr lang="en-US" sz="2400" dirty="0">
                <a:solidFill>
                  <a:schemeClr val="bg1"/>
                </a:solidFill>
              </a:rPr>
              <a:t>22</a:t>
            </a:r>
            <a:endParaRPr lang="uk-UA" sz="2400" dirty="0">
              <a:solidFill>
                <a:schemeClr val="bg1"/>
              </a:solidFill>
            </a:endParaRP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6" name="Rectangle 1">
            <a:extLst>
              <a:ext uri="{FF2B5EF4-FFF2-40B4-BE49-F238E27FC236}">
                <a16:creationId xmlns:a16="http://schemas.microsoft.com/office/drawing/2014/main" id="{173FA8F8-7BAB-4F5D-8833-79334272F138}"/>
              </a:ext>
            </a:extLst>
          </p:cNvPr>
          <p:cNvSpPr>
            <a:spLocks noGrp="1" noChangeArrowheads="1"/>
          </p:cNvSpPr>
          <p:nvPr>
            <p:ph type="subTitle" idx="1"/>
          </p:nvPr>
        </p:nvSpPr>
        <p:spPr bwMode="auto">
          <a:xfrm>
            <a:off x="104658" y="2088084"/>
            <a:ext cx="1165670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Тестування системи проводилось на трьох рівнях. </a:t>
            </a:r>
            <a:br>
              <a:rPr kumimoji="0" lang="uk-UA"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Модульне</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перевірка окремих функцій бекенду: коректність хешування паролів, генерація тимчасового пароля, валідація дат початку та кінця події (кінець не може бути раніше початку), перевірка унікальності email та username при реєстрації.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Інтеграційне</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тестування взаємодії між компонентами: чи правильно JWT-токен передається від фронтенду до API, чи коректно каскадно видаляються події при видаленні категорії, чи надсилається email після виклику /api/auth/forgot-password. </a:t>
            </a:r>
            <a:br>
              <a:rPr kumimoji="0" lang="uk-UA"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Системне</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наскрізні сценарії від імені реального користувача: реєстрація → вхід → створення категорії → створення події → позначення як виконаної → перегляд аналітики → вихід → спроба повернутись назад у браузері. </a:t>
            </a:r>
          </a:p>
        </p:txBody>
      </p:sp>
    </p:spTree>
    <p:extLst>
      <p:ext uri="{BB962C8B-B14F-4D97-AF65-F5344CB8AC3E}">
        <p14:creationId xmlns:p14="http://schemas.microsoft.com/office/powerpoint/2010/main" val="2076628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3CAADC-AE87-4A59-9FE7-77F74FE90FF4}"/>
              </a:ext>
            </a:extLst>
          </p:cNvPr>
          <p:cNvSpPr>
            <a:spLocks noGrp="1"/>
          </p:cNvSpPr>
          <p:nvPr>
            <p:ph type="ctrTitle"/>
          </p:nvPr>
        </p:nvSpPr>
        <p:spPr>
          <a:xfrm>
            <a:off x="1389776" y="1169312"/>
            <a:ext cx="9144000" cy="430887"/>
          </a:xfrm>
        </p:spPr>
        <p:txBody>
          <a:bodyPr/>
          <a:lstStyle/>
          <a:p>
            <a:r>
              <a:rPr lang="ru-RU" sz="2800" dirty="0"/>
              <a:t>Результати тестування</a:t>
            </a:r>
            <a:endParaRPr lang="LID4096" sz="2800" dirty="0"/>
          </a:p>
        </p:txBody>
      </p:sp>
      <p:pic>
        <p:nvPicPr>
          <p:cNvPr id="5" name="Рисунок 4">
            <a:extLst>
              <a:ext uri="{FF2B5EF4-FFF2-40B4-BE49-F238E27FC236}">
                <a16:creationId xmlns:a16="http://schemas.microsoft.com/office/drawing/2014/main" id="{9D65B5D5-0399-4146-A71F-510FECF432F2}"/>
              </a:ext>
            </a:extLst>
          </p:cNvPr>
          <p:cNvPicPr>
            <a:picLocks noChangeAspect="1"/>
          </p:cNvPicPr>
          <p:nvPr/>
        </p:nvPicPr>
        <p:blipFill>
          <a:blip r:embed="rId2"/>
          <a:stretch>
            <a:fillRect/>
          </a:stretch>
        </p:blipFill>
        <p:spPr>
          <a:xfrm>
            <a:off x="353688" y="4490374"/>
            <a:ext cx="4705350" cy="828675"/>
          </a:xfrm>
          <a:prstGeom prst="rect">
            <a:avLst/>
          </a:prstGeom>
        </p:spPr>
      </p:pic>
      <p:pic>
        <p:nvPicPr>
          <p:cNvPr id="9" name="Рисунок 8">
            <a:extLst>
              <a:ext uri="{FF2B5EF4-FFF2-40B4-BE49-F238E27FC236}">
                <a16:creationId xmlns:a16="http://schemas.microsoft.com/office/drawing/2014/main" id="{7C28B3DE-4568-4E58-9974-58DCA7280872}"/>
              </a:ext>
            </a:extLst>
          </p:cNvPr>
          <p:cNvPicPr>
            <a:picLocks noChangeAspect="1"/>
          </p:cNvPicPr>
          <p:nvPr/>
        </p:nvPicPr>
        <p:blipFill>
          <a:blip r:embed="rId3"/>
          <a:stretch>
            <a:fillRect/>
          </a:stretch>
        </p:blipFill>
        <p:spPr>
          <a:xfrm>
            <a:off x="9206887" y="1670361"/>
            <a:ext cx="2504697" cy="4018327"/>
          </a:xfrm>
          <a:prstGeom prst="rect">
            <a:avLst/>
          </a:prstGeom>
        </p:spPr>
      </p:pic>
      <p:pic>
        <p:nvPicPr>
          <p:cNvPr id="15" name="Рисунок 14">
            <a:extLst>
              <a:ext uri="{FF2B5EF4-FFF2-40B4-BE49-F238E27FC236}">
                <a16:creationId xmlns:a16="http://schemas.microsoft.com/office/drawing/2014/main" id="{A131FBA8-2CF7-49CF-ADAF-A0A49122B574}"/>
              </a:ext>
            </a:extLst>
          </p:cNvPr>
          <p:cNvPicPr>
            <a:picLocks noChangeAspect="1"/>
          </p:cNvPicPr>
          <p:nvPr/>
        </p:nvPicPr>
        <p:blipFill>
          <a:blip r:embed="rId4"/>
          <a:stretch>
            <a:fillRect/>
          </a:stretch>
        </p:blipFill>
        <p:spPr>
          <a:xfrm>
            <a:off x="353689" y="1845578"/>
            <a:ext cx="4705350" cy="2399417"/>
          </a:xfrm>
          <a:prstGeom prst="rect">
            <a:avLst/>
          </a:prstGeom>
        </p:spPr>
      </p:pic>
      <p:pic>
        <p:nvPicPr>
          <p:cNvPr id="17" name="Рисунок 16">
            <a:extLst>
              <a:ext uri="{FF2B5EF4-FFF2-40B4-BE49-F238E27FC236}">
                <a16:creationId xmlns:a16="http://schemas.microsoft.com/office/drawing/2014/main" id="{D3BF0859-9D00-40D5-AADC-29D5B0044E2F}"/>
              </a:ext>
            </a:extLst>
          </p:cNvPr>
          <p:cNvPicPr>
            <a:picLocks noChangeAspect="1"/>
          </p:cNvPicPr>
          <p:nvPr/>
        </p:nvPicPr>
        <p:blipFill>
          <a:blip r:embed="rId5"/>
          <a:stretch>
            <a:fillRect/>
          </a:stretch>
        </p:blipFill>
        <p:spPr>
          <a:xfrm>
            <a:off x="5378282" y="1670361"/>
            <a:ext cx="3509362" cy="4018327"/>
          </a:xfrm>
          <a:prstGeom prst="rect">
            <a:avLst/>
          </a:prstGeom>
        </p:spPr>
      </p:pic>
      <p:sp>
        <p:nvSpPr>
          <p:cNvPr id="18" name="TextBox 17">
            <a:extLst>
              <a:ext uri="{FF2B5EF4-FFF2-40B4-BE49-F238E27FC236}">
                <a16:creationId xmlns:a16="http://schemas.microsoft.com/office/drawing/2014/main" id="{CE531225-F75B-4080-8007-2D34C97D1FE5}"/>
              </a:ext>
            </a:extLst>
          </p:cNvPr>
          <p:cNvSpPr txBox="1"/>
          <p:nvPr/>
        </p:nvSpPr>
        <p:spPr>
          <a:xfrm>
            <a:off x="1119446" y="3875771"/>
            <a:ext cx="3173835" cy="276999"/>
          </a:xfrm>
          <a:prstGeom prst="rect">
            <a:avLst/>
          </a:prstGeom>
          <a:noFill/>
        </p:spPr>
        <p:txBody>
          <a:bodyPr wrap="square" rtlCol="0">
            <a:spAutoFit/>
          </a:bodyPr>
          <a:lstStyle/>
          <a:p>
            <a:r>
              <a:rPr lang="ru-RU" sz="1200" dirty="0">
                <a:latin typeface="Arial" panose="020B0604020202020204" pitchFamily="34" charset="0"/>
                <a:cs typeface="Arial" panose="020B0604020202020204" pitchFamily="34" charset="0"/>
              </a:rPr>
              <a:t>Рисунок 1 – </a:t>
            </a:r>
            <a:r>
              <a:rPr lang="uk-UA" sz="1200" dirty="0">
                <a:latin typeface="Arial" panose="020B0604020202020204" pitchFamily="34" charset="0"/>
                <a:cs typeface="Arial" panose="020B0604020202020204" pitchFamily="34" charset="0"/>
              </a:rPr>
              <a:t>Лист з тимчасовим паролем</a:t>
            </a:r>
            <a:endParaRPr lang="LID4096" sz="12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1D7E3FB6-27C8-4026-A2F2-8BD6BFCAAA12}"/>
              </a:ext>
            </a:extLst>
          </p:cNvPr>
          <p:cNvSpPr txBox="1"/>
          <p:nvPr/>
        </p:nvSpPr>
        <p:spPr>
          <a:xfrm>
            <a:off x="1557072" y="5327867"/>
            <a:ext cx="3173835" cy="276999"/>
          </a:xfrm>
          <a:prstGeom prst="rect">
            <a:avLst/>
          </a:prstGeom>
          <a:noFill/>
        </p:spPr>
        <p:txBody>
          <a:bodyPr wrap="square" rtlCol="0">
            <a:spAutoFit/>
          </a:bodyPr>
          <a:lstStyle/>
          <a:p>
            <a:r>
              <a:rPr lang="ru-RU" sz="1200" dirty="0">
                <a:latin typeface="Arial" panose="020B0604020202020204" pitchFamily="34" charset="0"/>
                <a:cs typeface="Arial" panose="020B0604020202020204" pitchFamily="34" charset="0"/>
              </a:rPr>
              <a:t>Рисунок 2 – </a:t>
            </a:r>
            <a:r>
              <a:rPr lang="uk-UA" sz="1200" dirty="0">
                <a:latin typeface="Arial" panose="020B0604020202020204" pitchFamily="34" charset="0"/>
                <a:cs typeface="Arial" panose="020B0604020202020204" pitchFamily="34" charset="0"/>
              </a:rPr>
              <a:t>Захешовані паролі</a:t>
            </a:r>
            <a:endParaRPr lang="LID4096" sz="12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7795C3DC-9F09-442A-BD73-D6CC7B29F4F1}"/>
              </a:ext>
            </a:extLst>
          </p:cNvPr>
          <p:cNvSpPr txBox="1"/>
          <p:nvPr/>
        </p:nvSpPr>
        <p:spPr>
          <a:xfrm>
            <a:off x="5713809" y="5758850"/>
            <a:ext cx="2683571" cy="276999"/>
          </a:xfrm>
          <a:prstGeom prst="rect">
            <a:avLst/>
          </a:prstGeom>
          <a:noFill/>
        </p:spPr>
        <p:txBody>
          <a:bodyPr wrap="square" rtlCol="0">
            <a:spAutoFit/>
          </a:bodyPr>
          <a:lstStyle/>
          <a:p>
            <a:r>
              <a:rPr lang="ru-RU" sz="1200" dirty="0">
                <a:latin typeface="Arial" panose="020B0604020202020204" pitchFamily="34" charset="0"/>
                <a:cs typeface="Arial" panose="020B0604020202020204" pitchFamily="34" charset="0"/>
              </a:rPr>
              <a:t>Рисунок 3 – </a:t>
            </a:r>
            <a:r>
              <a:rPr lang="uk-UA" sz="1200" dirty="0">
                <a:latin typeface="Arial" panose="020B0604020202020204" pitchFamily="34" charset="0"/>
                <a:cs typeface="Arial" panose="020B0604020202020204" pitchFamily="34" charset="0"/>
              </a:rPr>
              <a:t>Перевірка на час події</a:t>
            </a:r>
            <a:endParaRPr lang="LID4096" sz="12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7F8E0CA2-BEAE-4FF2-9B74-12417E478802}"/>
              </a:ext>
            </a:extLst>
          </p:cNvPr>
          <p:cNvSpPr txBox="1"/>
          <p:nvPr/>
        </p:nvSpPr>
        <p:spPr>
          <a:xfrm>
            <a:off x="9117449" y="5772639"/>
            <a:ext cx="2912364" cy="276999"/>
          </a:xfrm>
          <a:prstGeom prst="rect">
            <a:avLst/>
          </a:prstGeom>
          <a:noFill/>
        </p:spPr>
        <p:txBody>
          <a:bodyPr wrap="square" rtlCol="0">
            <a:spAutoFit/>
          </a:bodyPr>
          <a:lstStyle/>
          <a:p>
            <a:r>
              <a:rPr lang="ru-RU" sz="1200" dirty="0">
                <a:latin typeface="Arial" panose="020B0604020202020204" pitchFamily="34" charset="0"/>
                <a:cs typeface="Arial" panose="020B0604020202020204" pitchFamily="34" charset="0"/>
              </a:rPr>
              <a:t>Рисунок 4 – </a:t>
            </a:r>
            <a:r>
              <a:rPr lang="uk-UA" sz="1200" dirty="0">
                <a:latin typeface="Arial" panose="020B0604020202020204" pitchFamily="34" charset="0"/>
                <a:cs typeface="Arial" panose="020B0604020202020204" pitchFamily="34" charset="0"/>
              </a:rPr>
              <a:t>Перевірка зайняту пошту</a:t>
            </a:r>
            <a:endParaRPr lang="LID4096" sz="12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3D21A18-05D0-475A-A92B-F8BCDA3FDDB6}"/>
              </a:ext>
            </a:extLst>
          </p:cNvPr>
          <p:cNvSpPr txBox="1"/>
          <p:nvPr/>
        </p:nvSpPr>
        <p:spPr>
          <a:xfrm>
            <a:off x="6068051" y="6429945"/>
            <a:ext cx="6098796" cy="369332"/>
          </a:xfrm>
          <a:prstGeom prst="rect">
            <a:avLst/>
          </a:prstGeom>
          <a:noFill/>
        </p:spPr>
        <p:txBody>
          <a:bodyPr wrap="square">
            <a:spAutoFit/>
          </a:bodyPr>
          <a:lstStyle/>
          <a:p>
            <a:pPr algn="r"/>
            <a:r>
              <a:rPr lang="uk-UA" sz="1800" dirty="0">
                <a:solidFill>
                  <a:schemeClr val="bg1"/>
                </a:solidFill>
              </a:rPr>
              <a:t>16/</a:t>
            </a:r>
            <a:r>
              <a:rPr lang="en-US" sz="1800" dirty="0">
                <a:solidFill>
                  <a:schemeClr val="bg1"/>
                </a:solidFill>
              </a:rPr>
              <a:t>22</a:t>
            </a:r>
            <a:endParaRPr lang="uk-UA" sz="1800" dirty="0">
              <a:solidFill>
                <a:schemeClr val="bg1"/>
              </a:solidFill>
            </a:endParaRPr>
          </a:p>
        </p:txBody>
      </p:sp>
      <p:sp>
        <p:nvSpPr>
          <p:cNvPr id="26" name="TextBox 25">
            <a:extLst>
              <a:ext uri="{FF2B5EF4-FFF2-40B4-BE49-F238E27FC236}">
                <a16:creationId xmlns:a16="http://schemas.microsoft.com/office/drawing/2014/main" id="{7445B770-D909-4A1D-8F8E-3EB35E86E86E}"/>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536616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9D73F7-B05C-4AF1-97BC-C298CD5B9D76}"/>
              </a:ext>
            </a:extLst>
          </p:cNvPr>
          <p:cNvSpPr>
            <a:spLocks noGrp="1"/>
          </p:cNvSpPr>
          <p:nvPr>
            <p:ph type="ctrTitle"/>
          </p:nvPr>
        </p:nvSpPr>
        <p:spPr>
          <a:xfrm>
            <a:off x="1389776" y="1267054"/>
            <a:ext cx="9144000" cy="430887"/>
          </a:xfrm>
        </p:spPr>
        <p:txBody>
          <a:bodyPr/>
          <a:lstStyle/>
          <a:p>
            <a:r>
              <a:rPr lang="ru-RU" sz="2800" dirty="0" err="1"/>
              <a:t>Оцінка</a:t>
            </a:r>
            <a:r>
              <a:rPr lang="ru-RU" sz="2800" dirty="0"/>
              <a:t> </a:t>
            </a:r>
            <a:r>
              <a:rPr lang="ru-RU" sz="2800" dirty="0" err="1"/>
              <a:t>якості</a:t>
            </a:r>
            <a:r>
              <a:rPr lang="ru-RU" sz="2800" dirty="0"/>
              <a:t> та </a:t>
            </a:r>
            <a:r>
              <a:rPr lang="ru-RU" sz="2800" dirty="0" err="1"/>
              <a:t>надійності</a:t>
            </a:r>
            <a:endParaRPr lang="LID4096" sz="2800" dirty="0"/>
          </a:p>
        </p:txBody>
      </p:sp>
      <p:sp>
        <p:nvSpPr>
          <p:cNvPr id="4" name="Rectangle 1">
            <a:extLst>
              <a:ext uri="{FF2B5EF4-FFF2-40B4-BE49-F238E27FC236}">
                <a16:creationId xmlns:a16="http://schemas.microsoft.com/office/drawing/2014/main" id="{9F6A71E7-E9A6-47EC-B077-FCF7120E6334}"/>
              </a:ext>
            </a:extLst>
          </p:cNvPr>
          <p:cNvSpPr>
            <a:spLocks noGrp="1" noChangeArrowheads="1"/>
          </p:cNvSpPr>
          <p:nvPr>
            <p:ph type="subTitle" idx="1"/>
          </p:nvPr>
        </p:nvSpPr>
        <p:spPr bwMode="auto">
          <a:xfrm>
            <a:off x="0" y="2205002"/>
            <a:ext cx="9834694"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Безпека:</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паролі зберігаються виключно у вигляді bcrypt-хешу, JWT має обмежений термін дії, усі захищені маршрути перевіряють токен на бекенді незалежно від фронтенду. Прямий доступ до чужих даних унеможливлений — кожен запит фільтрується по user_id з токена.</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Надійність:</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каскадне видалення (cascade='all, delete-orphan') гарантує відсутність «сирітських» записів у БД. Усі запити до API обгорнуті в try/except з rollback транзакції при помилці.</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UX:</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система коректно обробляє граничні випадки — порожній календар, відсутність категорій, невірний формат дат — і повідомляє користувача зрозумілими повідомленнями замість технічних помилок.</a:t>
            </a:r>
          </a:p>
        </p:txBody>
      </p:sp>
      <p:sp>
        <p:nvSpPr>
          <p:cNvPr id="6" name="TextBox 5">
            <a:extLst>
              <a:ext uri="{FF2B5EF4-FFF2-40B4-BE49-F238E27FC236}">
                <a16:creationId xmlns:a16="http://schemas.microsoft.com/office/drawing/2014/main" id="{B72C0430-FFBD-446C-AE88-EB9DF53FC0C0}"/>
              </a:ext>
            </a:extLst>
          </p:cNvPr>
          <p:cNvSpPr txBox="1"/>
          <p:nvPr/>
        </p:nvSpPr>
        <p:spPr>
          <a:xfrm>
            <a:off x="6076426" y="6396497"/>
            <a:ext cx="6115574" cy="369332"/>
          </a:xfrm>
          <a:prstGeom prst="rect">
            <a:avLst/>
          </a:prstGeom>
          <a:noFill/>
        </p:spPr>
        <p:txBody>
          <a:bodyPr wrap="square">
            <a:spAutoFit/>
          </a:bodyPr>
          <a:lstStyle/>
          <a:p>
            <a:pPr algn="r"/>
            <a:r>
              <a:rPr lang="uk-UA" sz="1800" dirty="0">
                <a:solidFill>
                  <a:schemeClr val="bg1"/>
                </a:solidFill>
              </a:rPr>
              <a:t>17/</a:t>
            </a:r>
            <a:r>
              <a:rPr lang="en-US" sz="1800" dirty="0">
                <a:solidFill>
                  <a:schemeClr val="bg1"/>
                </a:solidFill>
              </a:rPr>
              <a:t>22</a:t>
            </a:r>
            <a:endParaRPr lang="uk-UA" sz="1800" dirty="0">
              <a:solidFill>
                <a:schemeClr val="bg1"/>
              </a:solidFill>
            </a:endParaRPr>
          </a:p>
        </p:txBody>
      </p:sp>
      <p:sp>
        <p:nvSpPr>
          <p:cNvPr id="7" name="TextBox 6">
            <a:extLst>
              <a:ext uri="{FF2B5EF4-FFF2-40B4-BE49-F238E27FC236}">
                <a16:creationId xmlns:a16="http://schemas.microsoft.com/office/drawing/2014/main" id="{F8415A50-408F-4BAD-938E-4469DB120EE5}"/>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4171371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362041-B026-4272-8AC1-73DDF2733C11}"/>
              </a:ext>
            </a:extLst>
          </p:cNvPr>
          <p:cNvSpPr>
            <a:spLocks noGrp="1"/>
          </p:cNvSpPr>
          <p:nvPr>
            <p:ph type="ctrTitle"/>
          </p:nvPr>
        </p:nvSpPr>
        <p:spPr>
          <a:xfrm>
            <a:off x="1381387" y="1384756"/>
            <a:ext cx="9144000" cy="430887"/>
          </a:xfrm>
        </p:spPr>
        <p:txBody>
          <a:bodyPr/>
          <a:lstStyle/>
          <a:p>
            <a:r>
              <a:rPr lang="ru-RU" sz="2800" dirty="0" err="1"/>
              <a:t>Порівняння</a:t>
            </a:r>
            <a:r>
              <a:rPr lang="ru-RU" sz="2800" dirty="0"/>
              <a:t> з аналогами</a:t>
            </a:r>
            <a:endParaRPr lang="LID4096" sz="2800" dirty="0"/>
          </a:p>
        </p:txBody>
      </p:sp>
      <p:graphicFrame>
        <p:nvGraphicFramePr>
          <p:cNvPr id="4" name="Таблица 3">
            <a:extLst>
              <a:ext uri="{FF2B5EF4-FFF2-40B4-BE49-F238E27FC236}">
                <a16:creationId xmlns:a16="http://schemas.microsoft.com/office/drawing/2014/main" id="{CC9E61A9-2197-4594-98ED-2DC4BB3A92C0}"/>
              </a:ext>
            </a:extLst>
          </p:cNvPr>
          <p:cNvGraphicFramePr>
            <a:graphicFrameLocks noGrp="1"/>
          </p:cNvGraphicFramePr>
          <p:nvPr>
            <p:extLst>
              <p:ext uri="{D42A27DB-BD31-4B8C-83A1-F6EECF244321}">
                <p14:modId xmlns:p14="http://schemas.microsoft.com/office/powerpoint/2010/main" val="1488414897"/>
              </p:ext>
            </p:extLst>
          </p:nvPr>
        </p:nvGraphicFramePr>
        <p:xfrm>
          <a:off x="4127618" y="2068600"/>
          <a:ext cx="7998864" cy="3729120"/>
        </p:xfrm>
        <a:graphic>
          <a:graphicData uri="http://schemas.openxmlformats.org/drawingml/2006/table">
            <a:tbl>
              <a:tblPr/>
              <a:tblGrid>
                <a:gridCol w="1999716">
                  <a:extLst>
                    <a:ext uri="{9D8B030D-6E8A-4147-A177-3AD203B41FA5}">
                      <a16:colId xmlns:a16="http://schemas.microsoft.com/office/drawing/2014/main" val="3499669708"/>
                    </a:ext>
                  </a:extLst>
                </a:gridCol>
                <a:gridCol w="1999716">
                  <a:extLst>
                    <a:ext uri="{9D8B030D-6E8A-4147-A177-3AD203B41FA5}">
                      <a16:colId xmlns:a16="http://schemas.microsoft.com/office/drawing/2014/main" val="3164698811"/>
                    </a:ext>
                  </a:extLst>
                </a:gridCol>
                <a:gridCol w="1999716">
                  <a:extLst>
                    <a:ext uri="{9D8B030D-6E8A-4147-A177-3AD203B41FA5}">
                      <a16:colId xmlns:a16="http://schemas.microsoft.com/office/drawing/2014/main" val="2032555400"/>
                    </a:ext>
                  </a:extLst>
                </a:gridCol>
                <a:gridCol w="1999716">
                  <a:extLst>
                    <a:ext uri="{9D8B030D-6E8A-4147-A177-3AD203B41FA5}">
                      <a16:colId xmlns:a16="http://schemas.microsoft.com/office/drawing/2014/main" val="3023529518"/>
                    </a:ext>
                  </a:extLst>
                </a:gridCol>
              </a:tblGrid>
              <a:tr h="355798">
                <a:tc>
                  <a:txBody>
                    <a:bodyPr/>
                    <a:lstStyle/>
                    <a:p>
                      <a:r>
                        <a:rPr lang="ru-RU" sz="1800"/>
                        <a:t>Функція</a:t>
                      </a:r>
                    </a:p>
                  </a:txBody>
                  <a:tcPr marL="88950" marR="88950" marT="44475" marB="44475" anchor="ctr">
                    <a:lnL>
                      <a:noFill/>
                    </a:lnL>
                    <a:lnR>
                      <a:noFill/>
                    </a:lnR>
                    <a:lnT>
                      <a:noFill/>
                    </a:lnT>
                    <a:lnB>
                      <a:noFill/>
                    </a:lnB>
                  </a:tcPr>
                </a:tc>
                <a:tc>
                  <a:txBody>
                    <a:bodyPr/>
                    <a:lstStyle/>
                    <a:p>
                      <a:r>
                        <a:rPr lang="en-US" sz="1800"/>
                        <a:t>Cloud Calendar</a:t>
                      </a:r>
                    </a:p>
                  </a:txBody>
                  <a:tcPr marL="88950" marR="88950" marT="44475" marB="44475" anchor="ctr">
                    <a:lnL>
                      <a:noFill/>
                    </a:lnL>
                    <a:lnR>
                      <a:noFill/>
                    </a:lnR>
                    <a:lnT>
                      <a:noFill/>
                    </a:lnT>
                    <a:lnB>
                      <a:noFill/>
                    </a:lnB>
                  </a:tcPr>
                </a:tc>
                <a:tc>
                  <a:txBody>
                    <a:bodyPr/>
                    <a:lstStyle/>
                    <a:p>
                      <a:r>
                        <a:rPr lang="en-US" sz="1800"/>
                        <a:t>Google Calendar</a:t>
                      </a:r>
                    </a:p>
                  </a:txBody>
                  <a:tcPr marL="88950" marR="88950" marT="44475" marB="44475" anchor="ctr">
                    <a:lnL>
                      <a:noFill/>
                    </a:lnL>
                    <a:lnR>
                      <a:noFill/>
                    </a:lnR>
                    <a:lnT>
                      <a:noFill/>
                    </a:lnT>
                    <a:lnB>
                      <a:noFill/>
                    </a:lnB>
                  </a:tcPr>
                </a:tc>
                <a:tc>
                  <a:txBody>
                    <a:bodyPr/>
                    <a:lstStyle/>
                    <a:p>
                      <a:r>
                        <a:rPr lang="en-US" sz="1800" dirty="0" err="1"/>
                        <a:t>Todoist</a:t>
                      </a:r>
                      <a:endParaRPr lang="en-US" sz="1800" dirty="0"/>
                    </a:p>
                  </a:txBody>
                  <a:tcPr marL="88950" marR="88950" marT="44475" marB="44475" anchor="ctr">
                    <a:lnL>
                      <a:noFill/>
                    </a:lnL>
                    <a:lnR>
                      <a:noFill/>
                    </a:lnR>
                    <a:lnT>
                      <a:noFill/>
                    </a:lnT>
                    <a:lnB>
                      <a:noFill/>
                    </a:lnB>
                  </a:tcPr>
                </a:tc>
                <a:extLst>
                  <a:ext uri="{0D108BD9-81ED-4DB2-BD59-A6C34878D82A}">
                    <a16:rowId xmlns:a16="http://schemas.microsoft.com/office/drawing/2014/main" val="2448251422"/>
                  </a:ext>
                </a:extLst>
              </a:tr>
              <a:tr h="355798">
                <a:tc>
                  <a:txBody>
                    <a:bodyPr/>
                    <a:lstStyle/>
                    <a:p>
                      <a:r>
                        <a:rPr lang="ru-RU" sz="1800"/>
                        <a:t>Перегляд календаря</a:t>
                      </a:r>
                    </a:p>
                  </a:txBody>
                  <a:tcPr marL="88950" marR="88950" marT="44475" marB="44475" anchor="ctr">
                    <a:lnL>
                      <a:noFill/>
                    </a:lnL>
                    <a:lnR>
                      <a:noFill/>
                    </a:lnR>
                    <a:lnT>
                      <a:noFill/>
                    </a:lnT>
                    <a:lnB>
                      <a:noFill/>
                    </a:lnB>
                  </a:tcPr>
                </a:tc>
                <a:tc>
                  <a:txBody>
                    <a:bodyPr/>
                    <a:lstStyle/>
                    <a:p>
                      <a:r>
                        <a:rPr lang="ru-UA" sz="1800" dirty="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dirty="0"/>
                        <a:t>❌</a:t>
                      </a:r>
                    </a:p>
                  </a:txBody>
                  <a:tcPr marL="88950" marR="88950" marT="44475" marB="44475" anchor="ctr">
                    <a:lnL>
                      <a:noFill/>
                    </a:lnL>
                    <a:lnR>
                      <a:noFill/>
                    </a:lnR>
                    <a:lnT>
                      <a:noFill/>
                    </a:lnT>
                    <a:lnB>
                      <a:noFill/>
                    </a:lnB>
                  </a:tcPr>
                </a:tc>
                <a:extLst>
                  <a:ext uri="{0D108BD9-81ED-4DB2-BD59-A6C34878D82A}">
                    <a16:rowId xmlns:a16="http://schemas.microsoft.com/office/drawing/2014/main" val="3622689090"/>
                  </a:ext>
                </a:extLst>
              </a:tr>
              <a:tr h="355798">
                <a:tc>
                  <a:txBody>
                    <a:bodyPr/>
                    <a:lstStyle/>
                    <a:p>
                      <a:r>
                        <a:rPr lang="ru-RU" sz="1800"/>
                        <a:t>Категорії з кольором</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extLst>
                  <a:ext uri="{0D108BD9-81ED-4DB2-BD59-A6C34878D82A}">
                    <a16:rowId xmlns:a16="http://schemas.microsoft.com/office/drawing/2014/main" val="215171932"/>
                  </a:ext>
                </a:extLst>
              </a:tr>
              <a:tr h="355798">
                <a:tc>
                  <a:txBody>
                    <a:bodyPr/>
                    <a:lstStyle/>
                    <a:p>
                      <a:r>
                        <a:rPr lang="ru-RU" sz="1800"/>
                        <a:t>Статус виконання</a:t>
                      </a:r>
                    </a:p>
                  </a:txBody>
                  <a:tcPr marL="88950" marR="88950" marT="44475" marB="44475" anchor="ctr">
                    <a:lnL>
                      <a:noFill/>
                    </a:lnL>
                    <a:lnR>
                      <a:noFill/>
                    </a:lnR>
                    <a:lnT>
                      <a:noFill/>
                    </a:lnT>
                    <a:lnB>
                      <a:noFill/>
                    </a:lnB>
                  </a:tcPr>
                </a:tc>
                <a:tc>
                  <a:txBody>
                    <a:bodyPr/>
                    <a:lstStyle/>
                    <a:p>
                      <a:r>
                        <a:rPr lang="ru-UA" sz="1800" dirty="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dirty="0"/>
                        <a:t>✅</a:t>
                      </a:r>
                    </a:p>
                  </a:txBody>
                  <a:tcPr marL="88950" marR="88950" marT="44475" marB="44475" anchor="ctr">
                    <a:lnL>
                      <a:noFill/>
                    </a:lnL>
                    <a:lnR>
                      <a:noFill/>
                    </a:lnR>
                    <a:lnT>
                      <a:noFill/>
                    </a:lnT>
                    <a:lnB>
                      <a:noFill/>
                    </a:lnB>
                  </a:tcPr>
                </a:tc>
                <a:extLst>
                  <a:ext uri="{0D108BD9-81ED-4DB2-BD59-A6C34878D82A}">
                    <a16:rowId xmlns:a16="http://schemas.microsoft.com/office/drawing/2014/main" val="568118177"/>
                  </a:ext>
                </a:extLst>
              </a:tr>
              <a:tr h="350639">
                <a:tc>
                  <a:txBody>
                    <a:bodyPr/>
                    <a:lstStyle/>
                    <a:p>
                      <a:r>
                        <a:rPr lang="ru-RU" sz="1800"/>
                        <a:t>Аналітика часу</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dirty="0"/>
                        <a:t>💰 </a:t>
                      </a:r>
                      <a:r>
                        <a:rPr lang="ru-RU" sz="1800" dirty="0"/>
                        <a:t>Платно</a:t>
                      </a:r>
                    </a:p>
                  </a:txBody>
                  <a:tcPr marL="88950" marR="88950" marT="44475" marB="44475" anchor="ctr">
                    <a:lnL>
                      <a:noFill/>
                    </a:lnL>
                    <a:lnR>
                      <a:noFill/>
                    </a:lnR>
                    <a:lnT>
                      <a:noFill/>
                    </a:lnT>
                    <a:lnB>
                      <a:noFill/>
                    </a:lnB>
                  </a:tcPr>
                </a:tc>
                <a:extLst>
                  <a:ext uri="{0D108BD9-81ED-4DB2-BD59-A6C34878D82A}">
                    <a16:rowId xmlns:a16="http://schemas.microsoft.com/office/drawing/2014/main" val="3414793094"/>
                  </a:ext>
                </a:extLst>
              </a:tr>
              <a:tr h="355798">
                <a:tc>
                  <a:txBody>
                    <a:bodyPr/>
                    <a:lstStyle/>
                    <a:p>
                      <a:r>
                        <a:rPr lang="ru-RU" sz="1800"/>
                        <a:t>Відновлення пароля</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dirty="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extLst>
                  <a:ext uri="{0D108BD9-81ED-4DB2-BD59-A6C34878D82A}">
                    <a16:rowId xmlns:a16="http://schemas.microsoft.com/office/drawing/2014/main" val="1202772350"/>
                  </a:ext>
                </a:extLst>
              </a:tr>
              <a:tr h="355798">
                <a:tc>
                  <a:txBody>
                    <a:bodyPr/>
                    <a:lstStyle/>
                    <a:p>
                      <a:r>
                        <a:rPr lang="ru-RU" sz="1800" dirty="0" err="1"/>
                        <a:t>Власний</a:t>
                      </a:r>
                      <a:r>
                        <a:rPr lang="ru-RU" sz="1800" dirty="0"/>
                        <a:t> хостинг</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extLst>
                  <a:ext uri="{0D108BD9-81ED-4DB2-BD59-A6C34878D82A}">
                    <a16:rowId xmlns:a16="http://schemas.microsoft.com/office/drawing/2014/main" val="2128003034"/>
                  </a:ext>
                </a:extLst>
              </a:tr>
              <a:tr h="355798">
                <a:tc>
                  <a:txBody>
                    <a:bodyPr/>
                    <a:lstStyle/>
                    <a:p>
                      <a:r>
                        <a:rPr lang="ru-RU" sz="1800"/>
                        <a:t>Відкритий код</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a:t>❌</a:t>
                      </a:r>
                    </a:p>
                  </a:txBody>
                  <a:tcPr marL="88950" marR="88950" marT="44475" marB="44475" anchor="ctr">
                    <a:lnL>
                      <a:noFill/>
                    </a:lnL>
                    <a:lnR>
                      <a:noFill/>
                    </a:lnR>
                    <a:lnT>
                      <a:noFill/>
                    </a:lnT>
                    <a:lnB>
                      <a:noFill/>
                    </a:lnB>
                  </a:tcPr>
                </a:tc>
                <a:tc>
                  <a:txBody>
                    <a:bodyPr/>
                    <a:lstStyle/>
                    <a:p>
                      <a:r>
                        <a:rPr lang="ru-UA" sz="1800" dirty="0"/>
                        <a:t>❌</a:t>
                      </a:r>
                    </a:p>
                  </a:txBody>
                  <a:tcPr marL="88950" marR="88950" marT="44475" marB="44475" anchor="ctr">
                    <a:lnL>
                      <a:noFill/>
                    </a:lnL>
                    <a:lnR>
                      <a:noFill/>
                    </a:lnR>
                    <a:lnT>
                      <a:noFill/>
                    </a:lnT>
                    <a:lnB>
                      <a:noFill/>
                    </a:lnB>
                  </a:tcPr>
                </a:tc>
                <a:extLst>
                  <a:ext uri="{0D108BD9-81ED-4DB2-BD59-A6C34878D82A}">
                    <a16:rowId xmlns:a16="http://schemas.microsoft.com/office/drawing/2014/main" val="1950433539"/>
                  </a:ext>
                </a:extLst>
              </a:tr>
            </a:tbl>
          </a:graphicData>
        </a:graphic>
      </p:graphicFrame>
      <p:sp>
        <p:nvSpPr>
          <p:cNvPr id="6" name="TextBox 5">
            <a:extLst>
              <a:ext uri="{FF2B5EF4-FFF2-40B4-BE49-F238E27FC236}">
                <a16:creationId xmlns:a16="http://schemas.microsoft.com/office/drawing/2014/main" id="{02DB638C-EF88-4F27-99B2-FDFB2FBD1A84}"/>
              </a:ext>
            </a:extLst>
          </p:cNvPr>
          <p:cNvSpPr txBox="1"/>
          <p:nvPr/>
        </p:nvSpPr>
        <p:spPr>
          <a:xfrm>
            <a:off x="65518" y="2381400"/>
            <a:ext cx="3404076" cy="3416320"/>
          </a:xfrm>
          <a:prstGeom prst="rect">
            <a:avLst/>
          </a:prstGeom>
          <a:noFill/>
        </p:spPr>
        <p:txBody>
          <a:bodyPr wrap="square">
            <a:spAutoFit/>
          </a:bodyPr>
          <a:lstStyle/>
          <a:p>
            <a:r>
              <a:rPr lang="en-US" dirty="0"/>
              <a:t>Cloud Calendar </a:t>
            </a:r>
            <a:r>
              <a:rPr lang="ru-RU" dirty="0" err="1"/>
              <a:t>поєднує</a:t>
            </a:r>
            <a:r>
              <a:rPr lang="ru-RU" dirty="0"/>
              <a:t> </a:t>
            </a:r>
            <a:r>
              <a:rPr lang="ru-RU" dirty="0" err="1"/>
              <a:t>функціонал</a:t>
            </a:r>
            <a:r>
              <a:rPr lang="ru-RU" dirty="0"/>
              <a:t> календаря (</a:t>
            </a:r>
            <a:r>
              <a:rPr lang="en-US" dirty="0"/>
              <a:t>Google Calendar) </a:t>
            </a:r>
            <a:r>
              <a:rPr lang="ru-RU" dirty="0"/>
              <a:t>і </a:t>
            </a:r>
            <a:r>
              <a:rPr lang="ru-RU" dirty="0" err="1"/>
              <a:t>трекера</a:t>
            </a:r>
            <a:r>
              <a:rPr lang="ru-RU" dirty="0"/>
              <a:t> задач (</a:t>
            </a:r>
            <a:r>
              <a:rPr lang="en-US" dirty="0" err="1"/>
              <a:t>Todoist</a:t>
            </a:r>
            <a:r>
              <a:rPr lang="en-US" dirty="0"/>
              <a:t>) </a:t>
            </a:r>
            <a:r>
              <a:rPr lang="ru-RU" dirty="0"/>
              <a:t>в </a:t>
            </a:r>
            <a:r>
              <a:rPr lang="ru-RU" dirty="0" err="1"/>
              <a:t>єдиній</a:t>
            </a:r>
            <a:r>
              <a:rPr lang="ru-RU" dirty="0"/>
              <a:t> </a:t>
            </a:r>
            <a:r>
              <a:rPr lang="ru-RU" dirty="0" err="1"/>
              <a:t>легковісній</a:t>
            </a:r>
            <a:r>
              <a:rPr lang="ru-RU" dirty="0"/>
              <a:t> системі без </a:t>
            </a:r>
            <a:r>
              <a:rPr lang="ru-RU" dirty="0" err="1"/>
              <a:t>підписок</a:t>
            </a:r>
            <a:r>
              <a:rPr lang="ru-RU" dirty="0"/>
              <a:t> і </a:t>
            </a:r>
            <a:r>
              <a:rPr lang="ru-RU" dirty="0" err="1"/>
              <a:t>залежності</a:t>
            </a:r>
            <a:r>
              <a:rPr lang="ru-RU" dirty="0"/>
              <a:t> </a:t>
            </a:r>
            <a:r>
              <a:rPr lang="ru-RU" dirty="0" err="1"/>
              <a:t>від</a:t>
            </a:r>
            <a:r>
              <a:rPr lang="ru-RU" dirty="0"/>
              <a:t> </a:t>
            </a:r>
            <a:r>
              <a:rPr lang="ru-RU" dirty="0" err="1"/>
              <a:t>сторонніх</a:t>
            </a:r>
            <a:r>
              <a:rPr lang="ru-RU" dirty="0"/>
              <a:t> </a:t>
            </a:r>
            <a:r>
              <a:rPr lang="ru-RU" dirty="0" err="1"/>
              <a:t>сервісів</a:t>
            </a:r>
            <a:r>
              <a:rPr lang="ru-RU" dirty="0"/>
              <a:t>. </a:t>
            </a:r>
            <a:r>
              <a:rPr lang="ru-RU" dirty="0" err="1"/>
              <a:t>Ключова</a:t>
            </a:r>
            <a:r>
              <a:rPr lang="ru-RU" dirty="0"/>
              <a:t> </a:t>
            </a:r>
            <a:r>
              <a:rPr lang="ru-RU" dirty="0" err="1"/>
              <a:t>перевага</a:t>
            </a:r>
            <a:r>
              <a:rPr lang="ru-RU" dirty="0"/>
              <a:t> — </a:t>
            </a:r>
            <a:r>
              <a:rPr lang="ru-RU" dirty="0" err="1"/>
              <a:t>повний</a:t>
            </a:r>
            <a:r>
              <a:rPr lang="ru-RU" dirty="0"/>
              <a:t> контроль над </a:t>
            </a:r>
            <a:r>
              <a:rPr lang="ru-RU" dirty="0" err="1"/>
              <a:t>даними</a:t>
            </a:r>
            <a:r>
              <a:rPr lang="ru-RU" dirty="0"/>
              <a:t>: система </a:t>
            </a:r>
            <a:r>
              <a:rPr lang="ru-RU" dirty="0" err="1"/>
              <a:t>розгортається</a:t>
            </a:r>
            <a:r>
              <a:rPr lang="ru-RU" dirty="0"/>
              <a:t> на </a:t>
            </a:r>
            <a:r>
              <a:rPr lang="ru-RU" dirty="0" err="1"/>
              <a:t>власному</a:t>
            </a:r>
            <a:r>
              <a:rPr lang="ru-RU" dirty="0"/>
              <a:t> </a:t>
            </a:r>
            <a:r>
              <a:rPr lang="ru-RU" dirty="0" err="1"/>
              <a:t>сервері</a:t>
            </a:r>
            <a:r>
              <a:rPr lang="ru-RU" dirty="0"/>
              <a:t>, </a:t>
            </a:r>
            <a:r>
              <a:rPr lang="ru-RU" dirty="0" err="1"/>
              <a:t>всі</a:t>
            </a:r>
            <a:r>
              <a:rPr lang="ru-RU" dirty="0"/>
              <a:t> </a:t>
            </a:r>
            <a:r>
              <a:rPr lang="ru-RU" dirty="0" err="1"/>
              <a:t>дані</a:t>
            </a:r>
            <a:r>
              <a:rPr lang="ru-RU" dirty="0"/>
              <a:t> </a:t>
            </a:r>
            <a:r>
              <a:rPr lang="ru-RU" dirty="0" err="1"/>
              <a:t>залишаються</a:t>
            </a:r>
            <a:r>
              <a:rPr lang="ru-RU" dirty="0"/>
              <a:t> в </a:t>
            </a:r>
            <a:r>
              <a:rPr lang="ru-RU" dirty="0" err="1"/>
              <a:t>локальній</a:t>
            </a:r>
            <a:r>
              <a:rPr lang="ru-RU" dirty="0"/>
              <a:t> базі </a:t>
            </a:r>
            <a:r>
              <a:rPr lang="en-US" dirty="0"/>
              <a:t>MySQL.</a:t>
            </a:r>
            <a:endParaRPr lang="LID4096" dirty="0"/>
          </a:p>
        </p:txBody>
      </p:sp>
      <p:sp>
        <p:nvSpPr>
          <p:cNvPr id="8" name="TextBox 7">
            <a:extLst>
              <a:ext uri="{FF2B5EF4-FFF2-40B4-BE49-F238E27FC236}">
                <a16:creationId xmlns:a16="http://schemas.microsoft.com/office/drawing/2014/main" id="{22A72A80-A0EC-41AD-82D3-A9387B183F1F}"/>
              </a:ext>
            </a:extLst>
          </p:cNvPr>
          <p:cNvSpPr txBox="1"/>
          <p:nvPr/>
        </p:nvSpPr>
        <p:spPr>
          <a:xfrm>
            <a:off x="6027686" y="6413275"/>
            <a:ext cx="6098796" cy="369332"/>
          </a:xfrm>
          <a:prstGeom prst="rect">
            <a:avLst/>
          </a:prstGeom>
          <a:noFill/>
        </p:spPr>
        <p:txBody>
          <a:bodyPr wrap="square">
            <a:spAutoFit/>
          </a:bodyPr>
          <a:lstStyle/>
          <a:p>
            <a:pPr algn="r"/>
            <a:r>
              <a:rPr lang="uk-UA" sz="1800" dirty="0">
                <a:solidFill>
                  <a:schemeClr val="bg1"/>
                </a:solidFill>
              </a:rPr>
              <a:t>18/</a:t>
            </a:r>
            <a:r>
              <a:rPr lang="en-US" sz="1800" dirty="0">
                <a:solidFill>
                  <a:schemeClr val="bg1"/>
                </a:solidFill>
              </a:rPr>
              <a:t>22</a:t>
            </a:r>
            <a:endParaRPr lang="uk-UA" sz="1800" dirty="0">
              <a:solidFill>
                <a:schemeClr val="bg1"/>
              </a:solidFill>
            </a:endParaRPr>
          </a:p>
        </p:txBody>
      </p:sp>
      <p:sp>
        <p:nvSpPr>
          <p:cNvPr id="9" name="TextBox 8">
            <a:extLst>
              <a:ext uri="{FF2B5EF4-FFF2-40B4-BE49-F238E27FC236}">
                <a16:creationId xmlns:a16="http://schemas.microsoft.com/office/drawing/2014/main" id="{9280EF48-D8CD-4128-B860-5BE454DB357F}"/>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1496053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238630"/>
            <a:ext cx="9144000" cy="1354217"/>
          </a:xfrm>
        </p:spPr>
        <p:txBody>
          <a:bodyPr/>
          <a:lstStyle/>
          <a:p>
            <a:r>
              <a:rPr lang="ru-RU" sz="2800" dirty="0" err="1"/>
              <a:t>Процес</a:t>
            </a:r>
            <a:r>
              <a:rPr lang="ru-RU" sz="2800" dirty="0"/>
              <a:t> </a:t>
            </a:r>
            <a:r>
              <a:rPr lang="ru-RU" sz="2800" dirty="0" err="1"/>
              <a:t>розгортання</a:t>
            </a:r>
            <a:r>
              <a:rPr lang="ru-RU" sz="2800" dirty="0"/>
              <a:t> системи</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19/22</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8" name="Rectangle 3">
            <a:extLst>
              <a:ext uri="{FF2B5EF4-FFF2-40B4-BE49-F238E27FC236}">
                <a16:creationId xmlns:a16="http://schemas.microsoft.com/office/drawing/2014/main" id="{01957E45-D41E-4E11-B25C-6B5F4DA8B8A5}"/>
              </a:ext>
            </a:extLst>
          </p:cNvPr>
          <p:cNvSpPr>
            <a:spLocks noGrp="1" noChangeArrowheads="1"/>
          </p:cNvSpPr>
          <p:nvPr>
            <p:ph type="subTitle" idx="1"/>
          </p:nvPr>
        </p:nvSpPr>
        <p:spPr bwMode="auto">
          <a:xfrm>
            <a:off x="198809" y="1705290"/>
            <a:ext cx="1122134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Розгортання системи складається з чотирьох послідовних кроків:</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 Встановлення файлів з GitHub</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Клонуємо репозиторій на сервер і встановлюємо всі необхідні залежності:</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bash</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git clone</a:t>
            </a:r>
            <a: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https://github.com/Maku4444/WEB-KURSOVA.git</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cd cloud-calendar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pip install -r requirements.txt</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 Запуск моделі MySQL на сервері</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Створюємо базу даних і застосовуємо структуру таблиць:</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sql</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CREATE DATABASE mydb CHARACTER SET utf8mb4;</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USE mydb;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таблиці створюються автоматично при першому запуску app.py через db.create_all()</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3. Створення власного .env файлу</a:t>
            </a: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У кореневій папці проекту створюємо файл .env і заповнюємо своїми даними:</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MAIL_USERNAME=your@gmail.com </a:t>
            </a:r>
            <a:br>
              <a:rPr kumimoji="0" lang="en-US"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MAIL_PASSWORD=your-gmail-app-password</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4. Запуск застосунку</a:t>
            </a:r>
            <a:endPar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bash</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python app.py</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Після цього система доступна за адресою http://localhost:5000</a:t>
            </a:r>
          </a:p>
        </p:txBody>
      </p:sp>
    </p:spTree>
    <p:extLst>
      <p:ext uri="{BB962C8B-B14F-4D97-AF65-F5344CB8AC3E}">
        <p14:creationId xmlns:p14="http://schemas.microsoft.com/office/powerpoint/2010/main" val="779273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50D63E-0009-4E6E-84B5-470DB809398E}"/>
              </a:ext>
            </a:extLst>
          </p:cNvPr>
          <p:cNvSpPr>
            <a:spLocks noGrp="1"/>
          </p:cNvSpPr>
          <p:nvPr>
            <p:ph type="ctrTitle"/>
          </p:nvPr>
        </p:nvSpPr>
        <p:spPr>
          <a:xfrm>
            <a:off x="1592367" y="1142765"/>
            <a:ext cx="9144000" cy="430887"/>
          </a:xfrm>
        </p:spPr>
        <p:txBody>
          <a:bodyPr/>
          <a:lstStyle/>
          <a:p>
            <a:r>
              <a:rPr lang="uk-UA" sz="2800" dirty="0"/>
              <a:t>Документація</a:t>
            </a:r>
            <a:endParaRPr lang="LID4096" sz="2800" dirty="0"/>
          </a:p>
        </p:txBody>
      </p:sp>
      <p:graphicFrame>
        <p:nvGraphicFramePr>
          <p:cNvPr id="6" name="Таблица 5">
            <a:extLst>
              <a:ext uri="{FF2B5EF4-FFF2-40B4-BE49-F238E27FC236}">
                <a16:creationId xmlns:a16="http://schemas.microsoft.com/office/drawing/2014/main" id="{A71A75EC-EA2A-4D80-A4FE-0F0D8B9E0286}"/>
              </a:ext>
            </a:extLst>
          </p:cNvPr>
          <p:cNvGraphicFramePr>
            <a:graphicFrameLocks noGrp="1"/>
          </p:cNvGraphicFramePr>
          <p:nvPr>
            <p:extLst>
              <p:ext uri="{D42A27DB-BD31-4B8C-83A1-F6EECF244321}">
                <p14:modId xmlns:p14="http://schemas.microsoft.com/office/powerpoint/2010/main" val="420936412"/>
              </p:ext>
            </p:extLst>
          </p:nvPr>
        </p:nvGraphicFramePr>
        <p:xfrm>
          <a:off x="131444" y="1589621"/>
          <a:ext cx="8405736" cy="2846390"/>
        </p:xfrm>
        <a:graphic>
          <a:graphicData uri="http://schemas.openxmlformats.org/drawingml/2006/table">
            <a:tbl>
              <a:tblPr/>
              <a:tblGrid>
                <a:gridCol w="2930538">
                  <a:extLst>
                    <a:ext uri="{9D8B030D-6E8A-4147-A177-3AD203B41FA5}">
                      <a16:colId xmlns:a16="http://schemas.microsoft.com/office/drawing/2014/main" val="1156008837"/>
                    </a:ext>
                  </a:extLst>
                </a:gridCol>
                <a:gridCol w="5475198">
                  <a:extLst>
                    <a:ext uri="{9D8B030D-6E8A-4147-A177-3AD203B41FA5}">
                      <a16:colId xmlns:a16="http://schemas.microsoft.com/office/drawing/2014/main" val="1641112170"/>
                    </a:ext>
                  </a:extLst>
                </a:gridCol>
              </a:tblGrid>
              <a:tr h="284639">
                <a:tc>
                  <a:txBody>
                    <a:bodyPr/>
                    <a:lstStyle/>
                    <a:p>
                      <a:r>
                        <a:rPr lang="ru-RU" sz="1400"/>
                        <a:t>Файл</a:t>
                      </a:r>
                    </a:p>
                  </a:txBody>
                  <a:tcPr marL="71160" marR="71160" marT="35580" marB="35580" anchor="ctr">
                    <a:lnL>
                      <a:noFill/>
                    </a:lnL>
                    <a:lnR>
                      <a:noFill/>
                    </a:lnR>
                    <a:lnT>
                      <a:noFill/>
                    </a:lnT>
                    <a:lnB>
                      <a:noFill/>
                    </a:lnB>
                  </a:tcPr>
                </a:tc>
                <a:tc>
                  <a:txBody>
                    <a:bodyPr/>
                    <a:lstStyle/>
                    <a:p>
                      <a:r>
                        <a:rPr lang="ru-RU" sz="1400" dirty="0" err="1"/>
                        <a:t>Призначення</a:t>
                      </a:r>
                      <a:endParaRPr lang="ru-RU" sz="1400" dirty="0"/>
                    </a:p>
                  </a:txBody>
                  <a:tcPr marL="71160" marR="71160" marT="35580" marB="35580" anchor="ctr">
                    <a:lnL>
                      <a:noFill/>
                    </a:lnL>
                    <a:lnR>
                      <a:noFill/>
                    </a:lnR>
                    <a:lnT>
                      <a:noFill/>
                    </a:lnT>
                    <a:lnB>
                      <a:noFill/>
                    </a:lnB>
                  </a:tcPr>
                </a:tc>
                <a:extLst>
                  <a:ext uri="{0D108BD9-81ED-4DB2-BD59-A6C34878D82A}">
                    <a16:rowId xmlns:a16="http://schemas.microsoft.com/office/drawing/2014/main" val="2381780933"/>
                  </a:ext>
                </a:extLst>
              </a:tr>
              <a:tr h="284639">
                <a:tc>
                  <a:txBody>
                    <a:bodyPr/>
                    <a:lstStyle/>
                    <a:p>
                      <a:r>
                        <a:rPr lang="en-US" sz="1400"/>
                        <a:t>app.py</a:t>
                      </a:r>
                    </a:p>
                  </a:txBody>
                  <a:tcPr marL="71160" marR="71160" marT="35580" marB="35580" anchor="ctr">
                    <a:lnL>
                      <a:noFill/>
                    </a:lnL>
                    <a:lnR>
                      <a:noFill/>
                    </a:lnR>
                    <a:lnT>
                      <a:noFill/>
                    </a:lnT>
                    <a:lnB>
                      <a:noFill/>
                    </a:lnB>
                  </a:tcPr>
                </a:tc>
                <a:tc>
                  <a:txBody>
                    <a:bodyPr/>
                    <a:lstStyle/>
                    <a:p>
                      <a:r>
                        <a:rPr lang="ru-RU" sz="1400"/>
                        <a:t>Усі </a:t>
                      </a:r>
                      <a:r>
                        <a:rPr lang="en-US" sz="1400"/>
                        <a:t>API-</a:t>
                      </a:r>
                      <a:r>
                        <a:rPr lang="ru-RU" sz="1400"/>
                        <a:t>маршрути </a:t>
                      </a:r>
                      <a:r>
                        <a:rPr lang="en-US" sz="1400"/>
                        <a:t>Flask</a:t>
                      </a:r>
                    </a:p>
                  </a:txBody>
                  <a:tcPr marL="71160" marR="71160" marT="35580" marB="35580" anchor="ctr">
                    <a:lnL>
                      <a:noFill/>
                    </a:lnL>
                    <a:lnR>
                      <a:noFill/>
                    </a:lnR>
                    <a:lnT>
                      <a:noFill/>
                    </a:lnT>
                    <a:lnB>
                      <a:noFill/>
                    </a:lnB>
                  </a:tcPr>
                </a:tc>
                <a:extLst>
                  <a:ext uri="{0D108BD9-81ED-4DB2-BD59-A6C34878D82A}">
                    <a16:rowId xmlns:a16="http://schemas.microsoft.com/office/drawing/2014/main" val="1053659282"/>
                  </a:ext>
                </a:extLst>
              </a:tr>
              <a:tr h="284639">
                <a:tc>
                  <a:txBody>
                    <a:bodyPr/>
                    <a:lstStyle/>
                    <a:p>
                      <a:r>
                        <a:rPr lang="en-US" sz="1400"/>
                        <a:t>models.py</a:t>
                      </a:r>
                    </a:p>
                  </a:txBody>
                  <a:tcPr marL="71160" marR="71160" marT="35580" marB="35580" anchor="ctr">
                    <a:lnL>
                      <a:noFill/>
                    </a:lnL>
                    <a:lnR>
                      <a:noFill/>
                    </a:lnR>
                    <a:lnT>
                      <a:noFill/>
                    </a:lnT>
                    <a:lnB>
                      <a:noFill/>
                    </a:lnB>
                  </a:tcPr>
                </a:tc>
                <a:tc>
                  <a:txBody>
                    <a:bodyPr/>
                    <a:lstStyle/>
                    <a:p>
                      <a:r>
                        <a:rPr lang="en-US" sz="1400"/>
                        <a:t>ORM-</a:t>
                      </a:r>
                      <a:r>
                        <a:rPr lang="ru-RU" sz="1400"/>
                        <a:t>моделі бази даних</a:t>
                      </a:r>
                    </a:p>
                  </a:txBody>
                  <a:tcPr marL="71160" marR="71160" marT="35580" marB="35580" anchor="ctr">
                    <a:lnL>
                      <a:noFill/>
                    </a:lnL>
                    <a:lnR>
                      <a:noFill/>
                    </a:lnR>
                    <a:lnT>
                      <a:noFill/>
                    </a:lnT>
                    <a:lnB>
                      <a:noFill/>
                    </a:lnB>
                  </a:tcPr>
                </a:tc>
                <a:extLst>
                  <a:ext uri="{0D108BD9-81ED-4DB2-BD59-A6C34878D82A}">
                    <a16:rowId xmlns:a16="http://schemas.microsoft.com/office/drawing/2014/main" val="2417397225"/>
                  </a:ext>
                </a:extLst>
              </a:tr>
              <a:tr h="284639">
                <a:tc>
                  <a:txBody>
                    <a:bodyPr/>
                    <a:lstStyle/>
                    <a:p>
                      <a:r>
                        <a:rPr lang="en-US" sz="1400"/>
                        <a:t>config.py</a:t>
                      </a:r>
                    </a:p>
                  </a:txBody>
                  <a:tcPr marL="71160" marR="71160" marT="35580" marB="35580" anchor="ctr">
                    <a:lnL>
                      <a:noFill/>
                    </a:lnL>
                    <a:lnR>
                      <a:noFill/>
                    </a:lnR>
                    <a:lnT>
                      <a:noFill/>
                    </a:lnT>
                    <a:lnB>
                      <a:noFill/>
                    </a:lnB>
                  </a:tcPr>
                </a:tc>
                <a:tc>
                  <a:txBody>
                    <a:bodyPr/>
                    <a:lstStyle/>
                    <a:p>
                      <a:r>
                        <a:rPr lang="ru-RU" sz="1400"/>
                        <a:t>Конфігурація з .</a:t>
                      </a:r>
                      <a:r>
                        <a:rPr lang="en-US" sz="1400"/>
                        <a:t>env</a:t>
                      </a:r>
                    </a:p>
                  </a:txBody>
                  <a:tcPr marL="71160" marR="71160" marT="35580" marB="35580" anchor="ctr">
                    <a:lnL>
                      <a:noFill/>
                    </a:lnL>
                    <a:lnR>
                      <a:noFill/>
                    </a:lnR>
                    <a:lnT>
                      <a:noFill/>
                    </a:lnT>
                    <a:lnB>
                      <a:noFill/>
                    </a:lnB>
                  </a:tcPr>
                </a:tc>
                <a:extLst>
                  <a:ext uri="{0D108BD9-81ED-4DB2-BD59-A6C34878D82A}">
                    <a16:rowId xmlns:a16="http://schemas.microsoft.com/office/drawing/2014/main" val="4180700474"/>
                  </a:ext>
                </a:extLst>
              </a:tr>
              <a:tr h="284639">
                <a:tc>
                  <a:txBody>
                    <a:bodyPr/>
                    <a:lstStyle/>
                    <a:p>
                      <a:r>
                        <a:rPr lang="en-US" sz="1400"/>
                        <a:t>static/js/utils.js</a:t>
                      </a:r>
                    </a:p>
                  </a:txBody>
                  <a:tcPr marL="71160" marR="71160" marT="35580" marB="35580" anchor="ctr">
                    <a:lnL>
                      <a:noFill/>
                    </a:lnL>
                    <a:lnR>
                      <a:noFill/>
                    </a:lnR>
                    <a:lnT>
                      <a:noFill/>
                    </a:lnT>
                    <a:lnB>
                      <a:noFill/>
                    </a:lnB>
                  </a:tcPr>
                </a:tc>
                <a:tc>
                  <a:txBody>
                    <a:bodyPr/>
                    <a:lstStyle/>
                    <a:p>
                      <a:r>
                        <a:rPr lang="ru-RU" sz="1400" dirty="0" err="1"/>
                        <a:t>Спільні</a:t>
                      </a:r>
                      <a:r>
                        <a:rPr lang="ru-RU" sz="1400" dirty="0"/>
                        <a:t> </a:t>
                      </a:r>
                      <a:r>
                        <a:rPr lang="ru-RU" sz="1400" dirty="0" err="1"/>
                        <a:t>функції</a:t>
                      </a:r>
                      <a:r>
                        <a:rPr lang="ru-RU" sz="1400" dirty="0"/>
                        <a:t> </a:t>
                      </a:r>
                      <a:r>
                        <a:rPr lang="ru-RU" sz="1400" dirty="0" err="1"/>
                        <a:t>фронтенду</a:t>
                      </a:r>
                      <a:r>
                        <a:rPr lang="ru-RU" sz="1400" dirty="0"/>
                        <a:t>, </a:t>
                      </a:r>
                      <a:r>
                        <a:rPr lang="en-US" sz="1400" dirty="0"/>
                        <a:t>guard </a:t>
                      </a:r>
                      <a:r>
                        <a:rPr lang="ru-RU" sz="1400" dirty="0" err="1"/>
                        <a:t>авторизації</a:t>
                      </a:r>
                      <a:endParaRPr lang="ru-RU" sz="1400" dirty="0"/>
                    </a:p>
                  </a:txBody>
                  <a:tcPr marL="71160" marR="71160" marT="35580" marB="35580" anchor="ctr">
                    <a:lnL>
                      <a:noFill/>
                    </a:lnL>
                    <a:lnR>
                      <a:noFill/>
                    </a:lnR>
                    <a:lnT>
                      <a:noFill/>
                    </a:lnT>
                    <a:lnB>
                      <a:noFill/>
                    </a:lnB>
                  </a:tcPr>
                </a:tc>
                <a:extLst>
                  <a:ext uri="{0D108BD9-81ED-4DB2-BD59-A6C34878D82A}">
                    <a16:rowId xmlns:a16="http://schemas.microsoft.com/office/drawing/2014/main" val="3270070861"/>
                  </a:ext>
                </a:extLst>
              </a:tr>
              <a:tr h="284639">
                <a:tc>
                  <a:txBody>
                    <a:bodyPr/>
                    <a:lstStyle/>
                    <a:p>
                      <a:r>
                        <a:rPr lang="en-US" sz="1400"/>
                        <a:t>static/js/auth.js</a:t>
                      </a:r>
                    </a:p>
                  </a:txBody>
                  <a:tcPr marL="71160" marR="71160" marT="35580" marB="35580" anchor="ctr">
                    <a:lnL>
                      <a:noFill/>
                    </a:lnL>
                    <a:lnR>
                      <a:noFill/>
                    </a:lnR>
                    <a:lnT>
                      <a:noFill/>
                    </a:lnT>
                    <a:lnB>
                      <a:noFill/>
                    </a:lnB>
                  </a:tcPr>
                </a:tc>
                <a:tc>
                  <a:txBody>
                    <a:bodyPr/>
                    <a:lstStyle/>
                    <a:p>
                      <a:r>
                        <a:rPr lang="ru-RU" sz="1400"/>
                        <a:t>Логіка входу, реєстрації, відновлення пароля</a:t>
                      </a:r>
                    </a:p>
                  </a:txBody>
                  <a:tcPr marL="71160" marR="71160" marT="35580" marB="35580" anchor="ctr">
                    <a:lnL>
                      <a:noFill/>
                    </a:lnL>
                    <a:lnR>
                      <a:noFill/>
                    </a:lnR>
                    <a:lnT>
                      <a:noFill/>
                    </a:lnT>
                    <a:lnB>
                      <a:noFill/>
                    </a:lnB>
                  </a:tcPr>
                </a:tc>
                <a:extLst>
                  <a:ext uri="{0D108BD9-81ED-4DB2-BD59-A6C34878D82A}">
                    <a16:rowId xmlns:a16="http://schemas.microsoft.com/office/drawing/2014/main" val="288302528"/>
                  </a:ext>
                </a:extLst>
              </a:tr>
              <a:tr h="284639">
                <a:tc>
                  <a:txBody>
                    <a:bodyPr/>
                    <a:lstStyle/>
                    <a:p>
                      <a:r>
                        <a:rPr lang="en-US" sz="1400"/>
                        <a:t>static/js/events.js</a:t>
                      </a:r>
                    </a:p>
                  </a:txBody>
                  <a:tcPr marL="71160" marR="71160" marT="35580" marB="35580" anchor="ctr">
                    <a:lnL>
                      <a:noFill/>
                    </a:lnL>
                    <a:lnR>
                      <a:noFill/>
                    </a:lnR>
                    <a:lnT>
                      <a:noFill/>
                    </a:lnT>
                    <a:lnB>
                      <a:noFill/>
                    </a:lnB>
                  </a:tcPr>
                </a:tc>
                <a:tc>
                  <a:txBody>
                    <a:bodyPr/>
                    <a:lstStyle/>
                    <a:p>
                      <a:r>
                        <a:rPr lang="en-US" sz="1400"/>
                        <a:t>CRUD </a:t>
                      </a:r>
                      <a:r>
                        <a:rPr lang="ru-RU" sz="1400"/>
                        <a:t>подій</a:t>
                      </a:r>
                    </a:p>
                  </a:txBody>
                  <a:tcPr marL="71160" marR="71160" marT="35580" marB="35580" anchor="ctr">
                    <a:lnL>
                      <a:noFill/>
                    </a:lnL>
                    <a:lnR>
                      <a:noFill/>
                    </a:lnR>
                    <a:lnT>
                      <a:noFill/>
                    </a:lnT>
                    <a:lnB>
                      <a:noFill/>
                    </a:lnB>
                  </a:tcPr>
                </a:tc>
                <a:extLst>
                  <a:ext uri="{0D108BD9-81ED-4DB2-BD59-A6C34878D82A}">
                    <a16:rowId xmlns:a16="http://schemas.microsoft.com/office/drawing/2014/main" val="1442903077"/>
                  </a:ext>
                </a:extLst>
              </a:tr>
              <a:tr h="284639">
                <a:tc>
                  <a:txBody>
                    <a:bodyPr/>
                    <a:lstStyle/>
                    <a:p>
                      <a:r>
                        <a:rPr lang="en-US" sz="1400"/>
                        <a:t>static/js/calendar.js</a:t>
                      </a:r>
                    </a:p>
                  </a:txBody>
                  <a:tcPr marL="71160" marR="71160" marT="35580" marB="35580" anchor="ctr">
                    <a:lnL>
                      <a:noFill/>
                    </a:lnL>
                    <a:lnR>
                      <a:noFill/>
                    </a:lnR>
                    <a:lnT>
                      <a:noFill/>
                    </a:lnT>
                    <a:lnB>
                      <a:noFill/>
                    </a:lnB>
                  </a:tcPr>
                </a:tc>
                <a:tc>
                  <a:txBody>
                    <a:bodyPr/>
                    <a:lstStyle/>
                    <a:p>
                      <a:r>
                        <a:rPr lang="ru-RU" sz="1400"/>
                        <a:t>Рендер календарної сітки</a:t>
                      </a:r>
                    </a:p>
                  </a:txBody>
                  <a:tcPr marL="71160" marR="71160" marT="35580" marB="35580" anchor="ctr">
                    <a:lnL>
                      <a:noFill/>
                    </a:lnL>
                    <a:lnR>
                      <a:noFill/>
                    </a:lnR>
                    <a:lnT>
                      <a:noFill/>
                    </a:lnT>
                    <a:lnB>
                      <a:noFill/>
                    </a:lnB>
                  </a:tcPr>
                </a:tc>
                <a:extLst>
                  <a:ext uri="{0D108BD9-81ED-4DB2-BD59-A6C34878D82A}">
                    <a16:rowId xmlns:a16="http://schemas.microsoft.com/office/drawing/2014/main" val="3791841366"/>
                  </a:ext>
                </a:extLst>
              </a:tr>
              <a:tr h="284639">
                <a:tc>
                  <a:txBody>
                    <a:bodyPr/>
                    <a:lstStyle/>
                    <a:p>
                      <a:r>
                        <a:rPr lang="en-US" sz="1400"/>
                        <a:t>static/js/categories.js</a:t>
                      </a:r>
                    </a:p>
                  </a:txBody>
                  <a:tcPr marL="71160" marR="71160" marT="35580" marB="35580" anchor="ctr">
                    <a:lnL>
                      <a:noFill/>
                    </a:lnL>
                    <a:lnR>
                      <a:noFill/>
                    </a:lnR>
                    <a:lnT>
                      <a:noFill/>
                    </a:lnT>
                    <a:lnB>
                      <a:noFill/>
                    </a:lnB>
                  </a:tcPr>
                </a:tc>
                <a:tc>
                  <a:txBody>
                    <a:bodyPr/>
                    <a:lstStyle/>
                    <a:p>
                      <a:r>
                        <a:rPr lang="en-US" sz="1400" dirty="0"/>
                        <a:t>CRUD </a:t>
                      </a:r>
                      <a:r>
                        <a:rPr lang="ru-RU" sz="1400" dirty="0"/>
                        <a:t>категорій</a:t>
                      </a:r>
                    </a:p>
                  </a:txBody>
                  <a:tcPr marL="71160" marR="71160" marT="35580" marB="35580" anchor="ctr">
                    <a:lnL>
                      <a:noFill/>
                    </a:lnL>
                    <a:lnR>
                      <a:noFill/>
                    </a:lnR>
                    <a:lnT>
                      <a:noFill/>
                    </a:lnT>
                    <a:lnB>
                      <a:noFill/>
                    </a:lnB>
                  </a:tcPr>
                </a:tc>
                <a:extLst>
                  <a:ext uri="{0D108BD9-81ED-4DB2-BD59-A6C34878D82A}">
                    <a16:rowId xmlns:a16="http://schemas.microsoft.com/office/drawing/2014/main" val="2923980427"/>
                  </a:ext>
                </a:extLst>
              </a:tr>
              <a:tr h="284639">
                <a:tc>
                  <a:txBody>
                    <a:bodyPr/>
                    <a:lstStyle/>
                    <a:p>
                      <a:r>
                        <a:rPr lang="en-US" sz="1400"/>
                        <a:t>static/js/dashboard.js</a:t>
                      </a:r>
                    </a:p>
                  </a:txBody>
                  <a:tcPr marL="71160" marR="71160" marT="35580" marB="35580" anchor="ctr">
                    <a:lnL>
                      <a:noFill/>
                    </a:lnL>
                    <a:lnR>
                      <a:noFill/>
                    </a:lnR>
                    <a:lnT>
                      <a:noFill/>
                    </a:lnT>
                    <a:lnB>
                      <a:noFill/>
                    </a:lnB>
                  </a:tcPr>
                </a:tc>
                <a:tc>
                  <a:txBody>
                    <a:bodyPr/>
                    <a:lstStyle/>
                    <a:p>
                      <a:r>
                        <a:rPr lang="ru-RU" sz="1400" dirty="0"/>
                        <a:t>Аналітика, </a:t>
                      </a:r>
                      <a:r>
                        <a:rPr lang="ru-RU" sz="1400" dirty="0" err="1"/>
                        <a:t>побудова</a:t>
                      </a:r>
                      <a:r>
                        <a:rPr lang="ru-RU" sz="1400" dirty="0"/>
                        <a:t> </a:t>
                      </a:r>
                      <a:r>
                        <a:rPr lang="ru-RU" sz="1400" dirty="0" err="1"/>
                        <a:t>діаграми</a:t>
                      </a:r>
                      <a:endParaRPr lang="ru-RU" sz="1400" dirty="0"/>
                    </a:p>
                  </a:txBody>
                  <a:tcPr marL="71160" marR="71160" marT="35580" marB="35580" anchor="ctr">
                    <a:lnL>
                      <a:noFill/>
                    </a:lnL>
                    <a:lnR>
                      <a:noFill/>
                    </a:lnR>
                    <a:lnT>
                      <a:noFill/>
                    </a:lnT>
                    <a:lnB>
                      <a:noFill/>
                    </a:lnB>
                  </a:tcPr>
                </a:tc>
                <a:extLst>
                  <a:ext uri="{0D108BD9-81ED-4DB2-BD59-A6C34878D82A}">
                    <a16:rowId xmlns:a16="http://schemas.microsoft.com/office/drawing/2014/main" val="2499662542"/>
                  </a:ext>
                </a:extLst>
              </a:tr>
            </a:tbl>
          </a:graphicData>
        </a:graphic>
      </p:graphicFrame>
      <p:graphicFrame>
        <p:nvGraphicFramePr>
          <p:cNvPr id="7" name="Таблица 6">
            <a:extLst>
              <a:ext uri="{FF2B5EF4-FFF2-40B4-BE49-F238E27FC236}">
                <a16:creationId xmlns:a16="http://schemas.microsoft.com/office/drawing/2014/main" id="{822D0D2E-9418-4A0C-9A4D-2EB4929F162D}"/>
              </a:ext>
            </a:extLst>
          </p:cNvPr>
          <p:cNvGraphicFramePr>
            <a:graphicFrameLocks noGrp="1"/>
          </p:cNvGraphicFramePr>
          <p:nvPr>
            <p:extLst>
              <p:ext uri="{D42A27DB-BD31-4B8C-83A1-F6EECF244321}">
                <p14:modId xmlns:p14="http://schemas.microsoft.com/office/powerpoint/2010/main" val="860157795"/>
              </p:ext>
            </p:extLst>
          </p:nvPr>
        </p:nvGraphicFramePr>
        <p:xfrm>
          <a:off x="131444" y="4451980"/>
          <a:ext cx="7723505" cy="1828800"/>
        </p:xfrm>
        <a:graphic>
          <a:graphicData uri="http://schemas.openxmlformats.org/drawingml/2006/table">
            <a:tbl>
              <a:tblPr/>
              <a:tblGrid>
                <a:gridCol w="2905371">
                  <a:extLst>
                    <a:ext uri="{9D8B030D-6E8A-4147-A177-3AD203B41FA5}">
                      <a16:colId xmlns:a16="http://schemas.microsoft.com/office/drawing/2014/main" val="1568100423"/>
                    </a:ext>
                  </a:extLst>
                </a:gridCol>
                <a:gridCol w="4818134">
                  <a:extLst>
                    <a:ext uri="{9D8B030D-6E8A-4147-A177-3AD203B41FA5}">
                      <a16:colId xmlns:a16="http://schemas.microsoft.com/office/drawing/2014/main" val="1116877563"/>
                    </a:ext>
                  </a:extLst>
                </a:gridCol>
              </a:tblGrid>
              <a:tr h="0">
                <a:tc>
                  <a:txBody>
                    <a:bodyPr/>
                    <a:lstStyle/>
                    <a:p>
                      <a:r>
                        <a:rPr lang="en-US" sz="1400" dirty="0"/>
                        <a:t>static/</a:t>
                      </a:r>
                      <a:r>
                        <a:rPr lang="en-US" sz="1400" dirty="0" err="1"/>
                        <a:t>js</a:t>
                      </a:r>
                      <a:r>
                        <a:rPr lang="en-US" sz="1400" dirty="0"/>
                        <a:t>/admin.js</a:t>
                      </a:r>
                    </a:p>
                  </a:txBody>
                  <a:tcPr anchor="ctr">
                    <a:lnL>
                      <a:noFill/>
                    </a:lnL>
                    <a:lnR>
                      <a:noFill/>
                    </a:lnR>
                    <a:lnT>
                      <a:noFill/>
                    </a:lnT>
                    <a:lnB>
                      <a:noFill/>
                    </a:lnB>
                  </a:tcPr>
                </a:tc>
                <a:tc>
                  <a:txBody>
                    <a:bodyPr/>
                    <a:lstStyle/>
                    <a:p>
                      <a:r>
                        <a:rPr lang="ru-RU" sz="1400" dirty="0" err="1"/>
                        <a:t>Керування</a:t>
                      </a:r>
                      <a:r>
                        <a:rPr lang="ru-RU" sz="1400" dirty="0"/>
                        <a:t> </a:t>
                      </a:r>
                      <a:r>
                        <a:rPr lang="ru-RU" sz="1400" dirty="0" err="1"/>
                        <a:t>користувачами</a:t>
                      </a:r>
                      <a:r>
                        <a:rPr lang="ru-RU" sz="1400" dirty="0"/>
                        <a:t>, </a:t>
                      </a:r>
                      <a:r>
                        <a:rPr lang="ru-RU" sz="1400" dirty="0" err="1"/>
                        <a:t>профіль</a:t>
                      </a:r>
                      <a:endParaRPr lang="ru-RU" sz="1400" dirty="0"/>
                    </a:p>
                  </a:txBody>
                  <a:tcPr anchor="ctr">
                    <a:lnL>
                      <a:noFill/>
                    </a:lnL>
                    <a:lnR>
                      <a:noFill/>
                    </a:lnR>
                    <a:lnT>
                      <a:noFill/>
                    </a:lnT>
                    <a:lnB>
                      <a:noFill/>
                    </a:lnB>
                  </a:tcPr>
                </a:tc>
                <a:extLst>
                  <a:ext uri="{0D108BD9-81ED-4DB2-BD59-A6C34878D82A}">
                    <a16:rowId xmlns:a16="http://schemas.microsoft.com/office/drawing/2014/main" val="52334930"/>
                  </a:ext>
                </a:extLst>
              </a:tr>
              <a:tr h="0">
                <a:tc>
                  <a:txBody>
                    <a:bodyPr/>
                    <a:lstStyle/>
                    <a:p>
                      <a:r>
                        <a:rPr lang="en-US" sz="1400" dirty="0"/>
                        <a:t>static/calendar.html</a:t>
                      </a:r>
                    </a:p>
                  </a:txBody>
                  <a:tcPr anchor="ctr">
                    <a:lnL>
                      <a:noFill/>
                    </a:lnL>
                    <a:lnR>
                      <a:noFill/>
                    </a:lnR>
                    <a:lnT>
                      <a:noFill/>
                    </a:lnT>
                    <a:lnB>
                      <a:noFill/>
                    </a:lnB>
                  </a:tcPr>
                </a:tc>
                <a:tc>
                  <a:txBody>
                    <a:bodyPr/>
                    <a:lstStyle/>
                    <a:p>
                      <a:r>
                        <a:rPr lang="ru-RU" sz="1400" dirty="0"/>
                        <a:t>Сторінка календаря</a:t>
                      </a:r>
                    </a:p>
                  </a:txBody>
                  <a:tcPr anchor="ctr">
                    <a:lnL>
                      <a:noFill/>
                    </a:lnL>
                    <a:lnR>
                      <a:noFill/>
                    </a:lnR>
                    <a:lnT>
                      <a:noFill/>
                    </a:lnT>
                    <a:lnB>
                      <a:noFill/>
                    </a:lnB>
                  </a:tcPr>
                </a:tc>
                <a:extLst>
                  <a:ext uri="{0D108BD9-81ED-4DB2-BD59-A6C34878D82A}">
                    <a16:rowId xmlns:a16="http://schemas.microsoft.com/office/drawing/2014/main" val="2724802145"/>
                  </a:ext>
                </a:extLst>
              </a:tr>
              <a:tr h="0">
                <a:tc>
                  <a:txBody>
                    <a:bodyPr/>
                    <a:lstStyle/>
                    <a:p>
                      <a:r>
                        <a:rPr lang="en-US" sz="1400"/>
                        <a:t>static/events.html</a:t>
                      </a:r>
                    </a:p>
                  </a:txBody>
                  <a:tcPr anchor="ctr">
                    <a:lnL>
                      <a:noFill/>
                    </a:lnL>
                    <a:lnR>
                      <a:noFill/>
                    </a:lnR>
                    <a:lnT>
                      <a:noFill/>
                    </a:lnT>
                    <a:lnB>
                      <a:noFill/>
                    </a:lnB>
                  </a:tcPr>
                </a:tc>
                <a:tc>
                  <a:txBody>
                    <a:bodyPr/>
                    <a:lstStyle/>
                    <a:p>
                      <a:r>
                        <a:rPr lang="ru-RU" sz="1400"/>
                        <a:t>Список подій</a:t>
                      </a:r>
                    </a:p>
                  </a:txBody>
                  <a:tcPr anchor="ctr">
                    <a:lnL>
                      <a:noFill/>
                    </a:lnL>
                    <a:lnR>
                      <a:noFill/>
                    </a:lnR>
                    <a:lnT>
                      <a:noFill/>
                    </a:lnT>
                    <a:lnB>
                      <a:noFill/>
                    </a:lnB>
                  </a:tcPr>
                </a:tc>
                <a:extLst>
                  <a:ext uri="{0D108BD9-81ED-4DB2-BD59-A6C34878D82A}">
                    <a16:rowId xmlns:a16="http://schemas.microsoft.com/office/drawing/2014/main" val="3389321799"/>
                  </a:ext>
                </a:extLst>
              </a:tr>
              <a:tr h="0">
                <a:tc>
                  <a:txBody>
                    <a:bodyPr/>
                    <a:lstStyle/>
                    <a:p>
                      <a:r>
                        <a:rPr lang="en-US" sz="1400"/>
                        <a:t>static/analytics.html</a:t>
                      </a:r>
                    </a:p>
                  </a:txBody>
                  <a:tcPr anchor="ctr">
                    <a:lnL>
                      <a:noFill/>
                    </a:lnL>
                    <a:lnR>
                      <a:noFill/>
                    </a:lnR>
                    <a:lnT>
                      <a:noFill/>
                    </a:lnT>
                    <a:lnB>
                      <a:noFill/>
                    </a:lnB>
                  </a:tcPr>
                </a:tc>
                <a:tc>
                  <a:txBody>
                    <a:bodyPr/>
                    <a:lstStyle/>
                    <a:p>
                      <a:r>
                        <a:rPr lang="ru-RU" sz="1400"/>
                        <a:t>Аналітика часу</a:t>
                      </a:r>
                    </a:p>
                  </a:txBody>
                  <a:tcPr anchor="ctr">
                    <a:lnL>
                      <a:noFill/>
                    </a:lnL>
                    <a:lnR>
                      <a:noFill/>
                    </a:lnR>
                    <a:lnT>
                      <a:noFill/>
                    </a:lnT>
                    <a:lnB>
                      <a:noFill/>
                    </a:lnB>
                  </a:tcPr>
                </a:tc>
                <a:extLst>
                  <a:ext uri="{0D108BD9-81ED-4DB2-BD59-A6C34878D82A}">
                    <a16:rowId xmlns:a16="http://schemas.microsoft.com/office/drawing/2014/main" val="2194221909"/>
                  </a:ext>
                </a:extLst>
              </a:tr>
              <a:tr h="0">
                <a:tc>
                  <a:txBody>
                    <a:bodyPr/>
                    <a:lstStyle/>
                    <a:p>
                      <a:r>
                        <a:rPr lang="en-US" sz="1400"/>
                        <a:t>static/profile.html</a:t>
                      </a:r>
                    </a:p>
                  </a:txBody>
                  <a:tcPr anchor="ctr">
                    <a:lnL>
                      <a:noFill/>
                    </a:lnL>
                    <a:lnR>
                      <a:noFill/>
                    </a:lnR>
                    <a:lnT>
                      <a:noFill/>
                    </a:lnT>
                    <a:lnB>
                      <a:noFill/>
                    </a:lnB>
                  </a:tcPr>
                </a:tc>
                <a:tc>
                  <a:txBody>
                    <a:bodyPr/>
                    <a:lstStyle/>
                    <a:p>
                      <a:r>
                        <a:rPr lang="ru-RU" sz="1400"/>
                        <a:t>Профіль користувача</a:t>
                      </a:r>
                    </a:p>
                  </a:txBody>
                  <a:tcPr anchor="ctr">
                    <a:lnL>
                      <a:noFill/>
                    </a:lnL>
                    <a:lnR>
                      <a:noFill/>
                    </a:lnR>
                    <a:lnT>
                      <a:noFill/>
                    </a:lnT>
                    <a:lnB>
                      <a:noFill/>
                    </a:lnB>
                  </a:tcPr>
                </a:tc>
                <a:extLst>
                  <a:ext uri="{0D108BD9-81ED-4DB2-BD59-A6C34878D82A}">
                    <a16:rowId xmlns:a16="http://schemas.microsoft.com/office/drawing/2014/main" val="1506789141"/>
                  </a:ext>
                </a:extLst>
              </a:tr>
              <a:tr h="0">
                <a:tc>
                  <a:txBody>
                    <a:bodyPr/>
                    <a:lstStyle/>
                    <a:p>
                      <a:r>
                        <a:rPr lang="en-US" sz="1400"/>
                        <a:t>static/categories-admin.html</a:t>
                      </a:r>
                    </a:p>
                  </a:txBody>
                  <a:tcPr anchor="ctr">
                    <a:lnL>
                      <a:noFill/>
                    </a:lnL>
                    <a:lnR>
                      <a:noFill/>
                    </a:lnR>
                    <a:lnT>
                      <a:noFill/>
                    </a:lnT>
                    <a:lnB>
                      <a:noFill/>
                    </a:lnB>
                  </a:tcPr>
                </a:tc>
                <a:tc>
                  <a:txBody>
                    <a:bodyPr/>
                    <a:lstStyle/>
                    <a:p>
                      <a:r>
                        <a:rPr lang="ru-RU" sz="1400" dirty="0"/>
                        <a:t>Редактор категорій</a:t>
                      </a:r>
                    </a:p>
                  </a:txBody>
                  <a:tcPr anchor="ctr">
                    <a:lnL>
                      <a:noFill/>
                    </a:lnL>
                    <a:lnR>
                      <a:noFill/>
                    </a:lnR>
                    <a:lnT>
                      <a:noFill/>
                    </a:lnT>
                    <a:lnB>
                      <a:noFill/>
                    </a:lnB>
                  </a:tcPr>
                </a:tc>
                <a:extLst>
                  <a:ext uri="{0D108BD9-81ED-4DB2-BD59-A6C34878D82A}">
                    <a16:rowId xmlns:a16="http://schemas.microsoft.com/office/drawing/2014/main" val="127169935"/>
                  </a:ext>
                </a:extLst>
              </a:tr>
            </a:tbl>
          </a:graphicData>
        </a:graphic>
      </p:graphicFrame>
      <p:graphicFrame>
        <p:nvGraphicFramePr>
          <p:cNvPr id="8" name="Таблица 7">
            <a:extLst>
              <a:ext uri="{FF2B5EF4-FFF2-40B4-BE49-F238E27FC236}">
                <a16:creationId xmlns:a16="http://schemas.microsoft.com/office/drawing/2014/main" id="{85950102-04F6-4297-A52E-1A035111733C}"/>
              </a:ext>
            </a:extLst>
          </p:cNvPr>
          <p:cNvGraphicFramePr>
            <a:graphicFrameLocks noGrp="1"/>
          </p:cNvGraphicFramePr>
          <p:nvPr>
            <p:extLst>
              <p:ext uri="{D42A27DB-BD31-4B8C-83A1-F6EECF244321}">
                <p14:modId xmlns:p14="http://schemas.microsoft.com/office/powerpoint/2010/main" val="2504281472"/>
              </p:ext>
            </p:extLst>
          </p:nvPr>
        </p:nvGraphicFramePr>
        <p:xfrm>
          <a:off x="7018788" y="1589621"/>
          <a:ext cx="5400676" cy="2753400"/>
        </p:xfrm>
        <a:graphic>
          <a:graphicData uri="http://schemas.openxmlformats.org/drawingml/2006/table">
            <a:tbl>
              <a:tblPr/>
              <a:tblGrid>
                <a:gridCol w="2700338">
                  <a:extLst>
                    <a:ext uri="{9D8B030D-6E8A-4147-A177-3AD203B41FA5}">
                      <a16:colId xmlns:a16="http://schemas.microsoft.com/office/drawing/2014/main" val="4068069517"/>
                    </a:ext>
                  </a:extLst>
                </a:gridCol>
                <a:gridCol w="2700338">
                  <a:extLst>
                    <a:ext uri="{9D8B030D-6E8A-4147-A177-3AD203B41FA5}">
                      <a16:colId xmlns:a16="http://schemas.microsoft.com/office/drawing/2014/main" val="642245241"/>
                    </a:ext>
                  </a:extLst>
                </a:gridCol>
              </a:tblGrid>
              <a:tr h="0">
                <a:tc>
                  <a:txBody>
                    <a:bodyPr/>
                    <a:lstStyle/>
                    <a:p>
                      <a:r>
                        <a:rPr lang="ru-RU" sz="1400" dirty="0"/>
                        <a:t>Файл</a:t>
                      </a:r>
                    </a:p>
                  </a:txBody>
                  <a:tcPr marL="71160" marR="71160" marT="35580" marB="35580" anchor="ctr">
                    <a:lnL>
                      <a:noFill/>
                    </a:lnL>
                    <a:lnR>
                      <a:noFill/>
                    </a:lnR>
                    <a:lnT>
                      <a:noFill/>
                    </a:lnT>
                    <a:lnB>
                      <a:noFill/>
                    </a:lnB>
                  </a:tcPr>
                </a:tc>
                <a:tc>
                  <a:txBody>
                    <a:bodyPr/>
                    <a:lstStyle/>
                    <a:p>
                      <a:r>
                        <a:rPr lang="ru-RU" sz="1400" dirty="0" err="1"/>
                        <a:t>Призначення</a:t>
                      </a:r>
                      <a:endParaRPr lang="ru-RU" sz="1400" dirty="0"/>
                    </a:p>
                  </a:txBody>
                  <a:tcPr marL="71160" marR="71160" marT="35580" marB="35580" anchor="ctr">
                    <a:lnL>
                      <a:noFill/>
                    </a:lnL>
                    <a:lnR>
                      <a:noFill/>
                    </a:lnR>
                    <a:lnT>
                      <a:noFill/>
                    </a:lnT>
                    <a:lnB>
                      <a:noFill/>
                    </a:lnB>
                  </a:tcPr>
                </a:tc>
                <a:extLst>
                  <a:ext uri="{0D108BD9-81ED-4DB2-BD59-A6C34878D82A}">
                    <a16:rowId xmlns:a16="http://schemas.microsoft.com/office/drawing/2014/main" val="4195928167"/>
                  </a:ext>
                </a:extLst>
              </a:tr>
              <a:tr h="0">
                <a:tc>
                  <a:txBody>
                    <a:bodyPr/>
                    <a:lstStyle/>
                    <a:p>
                      <a:r>
                        <a:rPr lang="en-US" sz="1400" dirty="0"/>
                        <a:t>static/users-admin.html</a:t>
                      </a:r>
                    </a:p>
                  </a:txBody>
                  <a:tcPr anchor="ctr">
                    <a:lnL>
                      <a:noFill/>
                    </a:lnL>
                    <a:lnR>
                      <a:noFill/>
                    </a:lnR>
                    <a:lnT>
                      <a:noFill/>
                    </a:lnT>
                    <a:lnB>
                      <a:noFill/>
                    </a:lnB>
                  </a:tcPr>
                </a:tc>
                <a:tc>
                  <a:txBody>
                    <a:bodyPr/>
                    <a:lstStyle/>
                    <a:p>
                      <a:r>
                        <a:rPr lang="ru-RU" sz="1400"/>
                        <a:t>Керування користувачами (</a:t>
                      </a:r>
                      <a:r>
                        <a:rPr lang="en-US" sz="1400"/>
                        <a:t>Admin)</a:t>
                      </a:r>
                    </a:p>
                  </a:txBody>
                  <a:tcPr anchor="ctr">
                    <a:lnL>
                      <a:noFill/>
                    </a:lnL>
                    <a:lnR>
                      <a:noFill/>
                    </a:lnR>
                    <a:lnT>
                      <a:noFill/>
                    </a:lnT>
                    <a:lnB>
                      <a:noFill/>
                    </a:lnB>
                  </a:tcPr>
                </a:tc>
                <a:extLst>
                  <a:ext uri="{0D108BD9-81ED-4DB2-BD59-A6C34878D82A}">
                    <a16:rowId xmlns:a16="http://schemas.microsoft.com/office/drawing/2014/main" val="2293994965"/>
                  </a:ext>
                </a:extLst>
              </a:tr>
              <a:tr h="0">
                <a:tc>
                  <a:txBody>
                    <a:bodyPr/>
                    <a:lstStyle/>
                    <a:p>
                      <a:r>
                        <a:rPr lang="en-US" sz="1400"/>
                        <a:t>static/login.html</a:t>
                      </a:r>
                    </a:p>
                  </a:txBody>
                  <a:tcPr anchor="ctr">
                    <a:lnL>
                      <a:noFill/>
                    </a:lnL>
                    <a:lnR>
                      <a:noFill/>
                    </a:lnR>
                    <a:lnT>
                      <a:noFill/>
                    </a:lnT>
                    <a:lnB>
                      <a:noFill/>
                    </a:lnB>
                  </a:tcPr>
                </a:tc>
                <a:tc>
                  <a:txBody>
                    <a:bodyPr/>
                    <a:lstStyle/>
                    <a:p>
                      <a:r>
                        <a:rPr lang="ru-RU" sz="1400"/>
                        <a:t>Вхід</a:t>
                      </a:r>
                    </a:p>
                  </a:txBody>
                  <a:tcPr anchor="ctr">
                    <a:lnL>
                      <a:noFill/>
                    </a:lnL>
                    <a:lnR>
                      <a:noFill/>
                    </a:lnR>
                    <a:lnT>
                      <a:noFill/>
                    </a:lnT>
                    <a:lnB>
                      <a:noFill/>
                    </a:lnB>
                  </a:tcPr>
                </a:tc>
                <a:extLst>
                  <a:ext uri="{0D108BD9-81ED-4DB2-BD59-A6C34878D82A}">
                    <a16:rowId xmlns:a16="http://schemas.microsoft.com/office/drawing/2014/main" val="996544087"/>
                  </a:ext>
                </a:extLst>
              </a:tr>
              <a:tr h="0">
                <a:tc>
                  <a:txBody>
                    <a:bodyPr/>
                    <a:lstStyle/>
                    <a:p>
                      <a:r>
                        <a:rPr lang="en-US" sz="1400"/>
                        <a:t>static/register.html</a:t>
                      </a:r>
                    </a:p>
                  </a:txBody>
                  <a:tcPr anchor="ctr">
                    <a:lnL>
                      <a:noFill/>
                    </a:lnL>
                    <a:lnR>
                      <a:noFill/>
                    </a:lnR>
                    <a:lnT>
                      <a:noFill/>
                    </a:lnT>
                    <a:lnB>
                      <a:noFill/>
                    </a:lnB>
                  </a:tcPr>
                </a:tc>
                <a:tc>
                  <a:txBody>
                    <a:bodyPr/>
                    <a:lstStyle/>
                    <a:p>
                      <a:r>
                        <a:rPr lang="ru-RU" sz="1400"/>
                        <a:t>Реєстрація</a:t>
                      </a:r>
                    </a:p>
                  </a:txBody>
                  <a:tcPr anchor="ctr">
                    <a:lnL>
                      <a:noFill/>
                    </a:lnL>
                    <a:lnR>
                      <a:noFill/>
                    </a:lnR>
                    <a:lnT>
                      <a:noFill/>
                    </a:lnT>
                    <a:lnB>
                      <a:noFill/>
                    </a:lnB>
                  </a:tcPr>
                </a:tc>
                <a:extLst>
                  <a:ext uri="{0D108BD9-81ED-4DB2-BD59-A6C34878D82A}">
                    <a16:rowId xmlns:a16="http://schemas.microsoft.com/office/drawing/2014/main" val="3476670419"/>
                  </a:ext>
                </a:extLst>
              </a:tr>
              <a:tr h="0">
                <a:tc>
                  <a:txBody>
                    <a:bodyPr/>
                    <a:lstStyle/>
                    <a:p>
                      <a:r>
                        <a:rPr lang="en-US" sz="1400"/>
                        <a:t>static/style.css</a:t>
                      </a:r>
                    </a:p>
                  </a:txBody>
                  <a:tcPr anchor="ctr">
                    <a:lnL>
                      <a:noFill/>
                    </a:lnL>
                    <a:lnR>
                      <a:noFill/>
                    </a:lnR>
                    <a:lnT>
                      <a:noFill/>
                    </a:lnT>
                    <a:lnB>
                      <a:noFill/>
                    </a:lnB>
                  </a:tcPr>
                </a:tc>
                <a:tc>
                  <a:txBody>
                    <a:bodyPr/>
                    <a:lstStyle/>
                    <a:p>
                      <a:r>
                        <a:rPr lang="ru-RU" sz="1400"/>
                        <a:t>Єдина дизайн-система на </a:t>
                      </a:r>
                      <a:r>
                        <a:rPr lang="en-US" sz="1400"/>
                        <a:t>CSS-</a:t>
                      </a:r>
                      <a:r>
                        <a:rPr lang="ru-RU" sz="1400"/>
                        <a:t>змінних</a:t>
                      </a:r>
                    </a:p>
                  </a:txBody>
                  <a:tcPr anchor="ctr">
                    <a:lnL>
                      <a:noFill/>
                    </a:lnL>
                    <a:lnR>
                      <a:noFill/>
                    </a:lnR>
                    <a:lnT>
                      <a:noFill/>
                    </a:lnT>
                    <a:lnB>
                      <a:noFill/>
                    </a:lnB>
                  </a:tcPr>
                </a:tc>
                <a:extLst>
                  <a:ext uri="{0D108BD9-81ED-4DB2-BD59-A6C34878D82A}">
                    <a16:rowId xmlns:a16="http://schemas.microsoft.com/office/drawing/2014/main" val="3230909586"/>
                  </a:ext>
                </a:extLst>
              </a:tr>
              <a:tr h="0">
                <a:tc>
                  <a:txBody>
                    <a:bodyPr/>
                    <a:lstStyle/>
                    <a:p>
                      <a:r>
                        <a:rPr lang="en-US" sz="1400"/>
                        <a:t>static/avatars/</a:t>
                      </a:r>
                    </a:p>
                  </a:txBody>
                  <a:tcPr anchor="ctr">
                    <a:lnL>
                      <a:noFill/>
                    </a:lnL>
                    <a:lnR>
                      <a:noFill/>
                    </a:lnR>
                    <a:lnT>
                      <a:noFill/>
                    </a:lnT>
                    <a:lnB>
                      <a:noFill/>
                    </a:lnB>
                  </a:tcPr>
                </a:tc>
                <a:tc>
                  <a:txBody>
                    <a:bodyPr/>
                    <a:lstStyle/>
                    <a:p>
                      <a:r>
                        <a:rPr lang="ru-RU" sz="1400"/>
                        <a:t>Завантажені фото профілів</a:t>
                      </a:r>
                    </a:p>
                  </a:txBody>
                  <a:tcPr anchor="ctr">
                    <a:lnL>
                      <a:noFill/>
                    </a:lnL>
                    <a:lnR>
                      <a:noFill/>
                    </a:lnR>
                    <a:lnT>
                      <a:noFill/>
                    </a:lnT>
                    <a:lnB>
                      <a:noFill/>
                    </a:lnB>
                  </a:tcPr>
                </a:tc>
                <a:extLst>
                  <a:ext uri="{0D108BD9-81ED-4DB2-BD59-A6C34878D82A}">
                    <a16:rowId xmlns:a16="http://schemas.microsoft.com/office/drawing/2014/main" val="3894505408"/>
                  </a:ext>
                </a:extLst>
              </a:tr>
              <a:tr h="0">
                <a:tc>
                  <a:txBody>
                    <a:bodyPr/>
                    <a:lstStyle/>
                    <a:p>
                      <a:r>
                        <a:rPr lang="en-US" sz="1400" dirty="0"/>
                        <a:t>static/</a:t>
                      </a:r>
                      <a:r>
                        <a:rPr lang="en-US" sz="1400" dirty="0" err="1"/>
                        <a:t>img</a:t>
                      </a:r>
                      <a:r>
                        <a:rPr lang="en-US" sz="1400" dirty="0"/>
                        <a:t>/</a:t>
                      </a:r>
                    </a:p>
                  </a:txBody>
                  <a:tcPr anchor="ctr">
                    <a:lnL>
                      <a:noFill/>
                    </a:lnL>
                    <a:lnR>
                      <a:noFill/>
                    </a:lnR>
                    <a:lnT>
                      <a:noFill/>
                    </a:lnT>
                    <a:lnB>
                      <a:noFill/>
                    </a:lnB>
                  </a:tcPr>
                </a:tc>
                <a:tc>
                  <a:txBody>
                    <a:bodyPr/>
                    <a:lstStyle/>
                    <a:p>
                      <a:r>
                        <a:rPr lang="ru-RU" sz="1400" dirty="0"/>
                        <a:t>Логотип та аватар за </a:t>
                      </a:r>
                      <a:r>
                        <a:rPr lang="ru-RU" sz="1400" dirty="0" err="1"/>
                        <a:t>замовчуванням</a:t>
                      </a:r>
                      <a:endParaRPr lang="ru-RU" sz="1400" dirty="0"/>
                    </a:p>
                  </a:txBody>
                  <a:tcPr anchor="ctr">
                    <a:lnL>
                      <a:noFill/>
                    </a:lnL>
                    <a:lnR>
                      <a:noFill/>
                    </a:lnR>
                    <a:lnT>
                      <a:noFill/>
                    </a:lnT>
                    <a:lnB>
                      <a:noFill/>
                    </a:lnB>
                  </a:tcPr>
                </a:tc>
                <a:extLst>
                  <a:ext uri="{0D108BD9-81ED-4DB2-BD59-A6C34878D82A}">
                    <a16:rowId xmlns:a16="http://schemas.microsoft.com/office/drawing/2014/main" val="1013708257"/>
                  </a:ext>
                </a:extLst>
              </a:tr>
            </a:tbl>
          </a:graphicData>
        </a:graphic>
      </p:graphicFrame>
      <p:sp>
        <p:nvSpPr>
          <p:cNvPr id="10" name="TextBox 9">
            <a:extLst>
              <a:ext uri="{FF2B5EF4-FFF2-40B4-BE49-F238E27FC236}">
                <a16:creationId xmlns:a16="http://schemas.microsoft.com/office/drawing/2014/main" id="{6E612378-3227-460F-8B4F-475C3F9940EF}"/>
              </a:ext>
            </a:extLst>
          </p:cNvPr>
          <p:cNvSpPr txBox="1"/>
          <p:nvPr/>
        </p:nvSpPr>
        <p:spPr>
          <a:xfrm>
            <a:off x="5979954" y="6421664"/>
            <a:ext cx="6212046" cy="369332"/>
          </a:xfrm>
          <a:prstGeom prst="rect">
            <a:avLst/>
          </a:prstGeom>
          <a:noFill/>
        </p:spPr>
        <p:txBody>
          <a:bodyPr wrap="square">
            <a:spAutoFit/>
          </a:bodyPr>
          <a:lstStyle/>
          <a:p>
            <a:pPr algn="r"/>
            <a:r>
              <a:rPr lang="uk-UA" dirty="0">
                <a:solidFill>
                  <a:schemeClr val="bg1"/>
                </a:solidFill>
              </a:rPr>
              <a:t>20</a:t>
            </a:r>
            <a:r>
              <a:rPr lang="uk-UA" sz="1800" dirty="0">
                <a:solidFill>
                  <a:schemeClr val="bg1"/>
                </a:solidFill>
              </a:rPr>
              <a:t>/</a:t>
            </a:r>
            <a:r>
              <a:rPr lang="en-US" sz="1800" dirty="0">
                <a:solidFill>
                  <a:schemeClr val="bg1"/>
                </a:solidFill>
              </a:rPr>
              <a:t>22</a:t>
            </a:r>
            <a:endParaRPr lang="uk-UA" sz="1800" dirty="0">
              <a:solidFill>
                <a:schemeClr val="bg1"/>
              </a:solidFill>
            </a:endParaRPr>
          </a:p>
        </p:txBody>
      </p:sp>
      <p:sp>
        <p:nvSpPr>
          <p:cNvPr id="11" name="TextBox 10">
            <a:extLst>
              <a:ext uri="{FF2B5EF4-FFF2-40B4-BE49-F238E27FC236}">
                <a16:creationId xmlns:a16="http://schemas.microsoft.com/office/drawing/2014/main" id="{5186C640-2EF9-4FAD-B9A8-6B297ADA8CB7}"/>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1834749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313EA3-32B7-483B-9749-83D03E578317}"/>
              </a:ext>
            </a:extLst>
          </p:cNvPr>
          <p:cNvSpPr>
            <a:spLocks noGrp="1"/>
          </p:cNvSpPr>
          <p:nvPr>
            <p:ph type="ctrTitle"/>
          </p:nvPr>
        </p:nvSpPr>
        <p:spPr>
          <a:xfrm>
            <a:off x="1524000" y="1384756"/>
            <a:ext cx="9144000" cy="430887"/>
          </a:xfrm>
        </p:spPr>
        <p:txBody>
          <a:bodyPr/>
          <a:lstStyle/>
          <a:p>
            <a:r>
              <a:rPr lang="ru-RU" sz="2800" dirty="0" err="1"/>
              <a:t>Плани</a:t>
            </a:r>
            <a:r>
              <a:rPr lang="ru-RU" sz="2800" dirty="0"/>
              <a:t> </a:t>
            </a:r>
            <a:r>
              <a:rPr lang="ru-RU" sz="2800" dirty="0" err="1"/>
              <a:t>подальшого</a:t>
            </a:r>
            <a:r>
              <a:rPr lang="ru-RU" sz="2800" dirty="0"/>
              <a:t> </a:t>
            </a:r>
            <a:r>
              <a:rPr lang="ru-RU" sz="2800" dirty="0" err="1"/>
              <a:t>розвитку</a:t>
            </a:r>
            <a:endParaRPr lang="LID4096" sz="2800" dirty="0"/>
          </a:p>
        </p:txBody>
      </p:sp>
      <p:sp>
        <p:nvSpPr>
          <p:cNvPr id="4" name="Rectangle 1">
            <a:extLst>
              <a:ext uri="{FF2B5EF4-FFF2-40B4-BE49-F238E27FC236}">
                <a16:creationId xmlns:a16="http://schemas.microsoft.com/office/drawing/2014/main" id="{AABA3C6A-2C89-4CDA-8336-E3BEEA785350}"/>
              </a:ext>
            </a:extLst>
          </p:cNvPr>
          <p:cNvSpPr>
            <a:spLocks noGrp="1" noChangeArrowheads="1"/>
          </p:cNvSpPr>
          <p:nvPr>
            <p:ph type="subTitle" idx="1"/>
          </p:nvPr>
        </p:nvSpPr>
        <p:spPr bwMode="auto">
          <a:xfrm>
            <a:off x="131426" y="2175032"/>
            <a:ext cx="12060574"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rPr>
              <a:t>Найближча перспектива</a:t>
            </a:r>
            <a:endParaRPr kumimoji="0" lang="LID4096" altLang="LID4096"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Push-нагадування про події через браузерні сповіщення (Web Push API) — бекенд для email-нагадувань вже реалізовано (</a:t>
            </a:r>
            <a:r>
              <a:rPr kumimoji="0" lang="LID4096" altLang="LID4096" sz="1600" b="0" i="0" u="none" strike="noStrike" cap="none" normalizeH="0" baseline="0" dirty="0">
                <a:ln>
                  <a:noFill/>
                </a:ln>
                <a:solidFill>
                  <a:schemeClr val="tx1"/>
                </a:solidFill>
                <a:effectLst/>
                <a:latin typeface="Arial Unicode MS" panose="020B0604020202020204" pitchFamily="34" charset="-128"/>
              </a:rPr>
              <a:t>reminder_sent</a:t>
            </a:r>
            <a:r>
              <a:rPr kumimoji="0" lang="LID4096" altLang="LID4096" sz="1600" b="0" i="0" u="none" strike="noStrike" cap="none" normalizeH="0" baseline="0" dirty="0">
                <a:ln>
                  <a:noFill/>
                </a:ln>
                <a:solidFill>
                  <a:schemeClr val="tx1"/>
                </a:solidFill>
                <a:effectLst/>
              </a:rPr>
              <a:t>)</a:t>
            </a:r>
            <a:r>
              <a:rPr kumimoji="0" lang="LID4096" altLang="LID4096" sz="1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PWA-оболонка для встановлення на мобільний пристрій як додаток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Повторювані події (щодня / щотижня / щомісяця) </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rPr>
              <a:t>Середня перспектива</a:t>
            </a:r>
            <a:endParaRPr kumimoji="0" lang="LID4096" altLang="LID4096"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Спільні календарі — запрошення інших користувачів до перегляду або редагування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Імпорт/експорт у форматі iCal для сумісності з Google Calendar та Outlook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Пошук по подіях із фільтрацією за категорією та датою </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rPr>
              <a:t>Довгострокова перспектива</a:t>
            </a:r>
            <a:endParaRPr kumimoji="0" lang="LID4096" altLang="LID4096"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Розширена аналітика — теплова карта активності, порівняння тижнів, прогноз завантаженості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AI-асистент для автоматичної категоризації подій і пропозицій щодо планування часу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600" b="0" i="0" u="none" strike="noStrike" cap="none" normalizeH="0" baseline="0" dirty="0">
                <a:ln>
                  <a:noFill/>
                </a:ln>
                <a:solidFill>
                  <a:schemeClr val="tx1"/>
                </a:solidFill>
                <a:effectLst/>
                <a:latin typeface="Arial" panose="020B0604020202020204" pitchFamily="34" charset="0"/>
              </a:rPr>
              <a:t>Docker-контейнеризація для спрощення розгортання на будь-якій платформі</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C74916B-089B-4511-96BC-84E1BC5C0B0E}"/>
              </a:ext>
            </a:extLst>
          </p:cNvPr>
          <p:cNvSpPr txBox="1"/>
          <p:nvPr/>
        </p:nvSpPr>
        <p:spPr>
          <a:xfrm>
            <a:off x="6019101" y="6413275"/>
            <a:ext cx="6098796" cy="369332"/>
          </a:xfrm>
          <a:prstGeom prst="rect">
            <a:avLst/>
          </a:prstGeom>
          <a:noFill/>
        </p:spPr>
        <p:txBody>
          <a:bodyPr wrap="square">
            <a:spAutoFit/>
          </a:bodyPr>
          <a:lstStyle/>
          <a:p>
            <a:pPr algn="r"/>
            <a:r>
              <a:rPr lang="uk-UA" dirty="0">
                <a:solidFill>
                  <a:schemeClr val="bg1"/>
                </a:solidFill>
              </a:rPr>
              <a:t>21</a:t>
            </a:r>
            <a:r>
              <a:rPr lang="uk-UA" sz="1800" dirty="0">
                <a:solidFill>
                  <a:schemeClr val="bg1"/>
                </a:solidFill>
              </a:rPr>
              <a:t>/</a:t>
            </a:r>
            <a:r>
              <a:rPr lang="en-US" sz="1800" dirty="0">
                <a:solidFill>
                  <a:schemeClr val="bg1"/>
                </a:solidFill>
              </a:rPr>
              <a:t>22</a:t>
            </a:r>
            <a:endParaRPr lang="uk-UA" sz="1800" dirty="0">
              <a:solidFill>
                <a:schemeClr val="bg1"/>
              </a:solidFill>
            </a:endParaRPr>
          </a:p>
        </p:txBody>
      </p:sp>
      <p:sp>
        <p:nvSpPr>
          <p:cNvPr id="7" name="TextBox 6">
            <a:extLst>
              <a:ext uri="{FF2B5EF4-FFF2-40B4-BE49-F238E27FC236}">
                <a16:creationId xmlns:a16="http://schemas.microsoft.com/office/drawing/2014/main" id="{8C15F02D-30BE-449C-AA59-AA4CDD1A913E}"/>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2174540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403756" y="1350403"/>
            <a:ext cx="9144000" cy="1354217"/>
          </a:xfrm>
        </p:spPr>
        <p:txBody>
          <a:bodyPr/>
          <a:lstStyle/>
          <a:p>
            <a:r>
              <a:rPr lang="uk-UA" sz="2800" dirty="0">
                <a:solidFill>
                  <a:srgbClr val="002060"/>
                </a:solidFill>
              </a:rPr>
              <a:t>Висновки</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22/22</a:t>
            </a:r>
          </a:p>
        </p:txBody>
      </p:sp>
      <p:sp>
        <p:nvSpPr>
          <p:cNvPr id="7" name="TextBox 6"/>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6" name="Rectangle 2">
            <a:extLst>
              <a:ext uri="{FF2B5EF4-FFF2-40B4-BE49-F238E27FC236}">
                <a16:creationId xmlns:a16="http://schemas.microsoft.com/office/drawing/2014/main" id="{4DABBEEA-6CCF-4EB7-879A-A07BF5F64923}"/>
              </a:ext>
            </a:extLst>
          </p:cNvPr>
          <p:cNvSpPr>
            <a:spLocks noGrp="1" noChangeArrowheads="1"/>
          </p:cNvSpPr>
          <p:nvPr>
            <p:ph type="subTitle" idx="1"/>
          </p:nvPr>
        </p:nvSpPr>
        <p:spPr bwMode="auto">
          <a:xfrm>
            <a:off x="466986" y="2635326"/>
            <a:ext cx="11579605"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rPr>
              <a:t>Основні результати роботи</a:t>
            </a:r>
            <a:r>
              <a:rPr kumimoji="0" lang="LID4096" altLang="LID4096" sz="1600" b="0" i="0" u="none" strike="noStrike" cap="none" normalizeH="0" baseline="0" dirty="0">
                <a:ln>
                  <a:noFill/>
                </a:ln>
                <a:solidFill>
                  <a:schemeClr val="tx1"/>
                </a:solidFill>
                <a:effectLst/>
                <a:latin typeface="Arial" panose="020B0604020202020204" pitchFamily="34" charset="0"/>
              </a:rPr>
              <a:t> Розроблено повноцінний веб-застосунок Cloud Calendar — система управління подіями з календарним відображенням, аналітикою часу та розмежуванням ролей користувачів. Реалізовано 20+ API-маршрутів, 3 бази даних моделей та повний цикл аутентифікації.</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rPr>
              <a:t>Досягнення мети та виконання завдань</a:t>
            </a:r>
            <a:r>
              <a:rPr kumimoji="0" lang="LID4096" altLang="LID4096" sz="1600" b="0" i="0" u="none" strike="noStrike" cap="none" normalizeH="0" baseline="0" dirty="0">
                <a:ln>
                  <a:noFill/>
                </a:ln>
                <a:solidFill>
                  <a:schemeClr val="tx1"/>
                </a:solidFill>
                <a:effectLst/>
                <a:latin typeface="Arial" panose="020B0604020202020204" pitchFamily="34" charset="0"/>
              </a:rPr>
              <a:t> Усі поставлені завдання виконано: користувач може реєструватись, керувати подіями та категоріями, відстежувати статус виконання, переглядати аналітику розподілу часу. Адміністратор має окрему зону керування користувачами. Система захищена від несанкціонованого доступу на рівні як бекенду (JWT), так і фронтенду (bfcache guard).</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rPr>
              <a:t>Практична та наукова цінність</a:t>
            </a:r>
            <a:r>
              <a:rPr kumimoji="0" lang="LID4096" altLang="LID4096" sz="1600" b="0" i="0" u="none" strike="noStrike" cap="none" normalizeH="0" baseline="0" dirty="0">
                <a:ln>
                  <a:noFill/>
                </a:ln>
                <a:solidFill>
                  <a:schemeClr val="tx1"/>
                </a:solidFill>
                <a:effectLst/>
                <a:latin typeface="Arial" panose="020B0604020202020204" pitchFamily="34" charset="0"/>
              </a:rPr>
              <a:t> Застосунок вирішує реальну задачу планування часу, поєднуючи функціонал календаря і To-Do трекера в єдиній системі з відкритим кодом. На відміну від Google Calendar чи Todoist — розгортається на власному сервері, дані залишаються під повним контролем користувача.</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600" b="1" i="0" u="none" strike="noStrike" cap="none" normalizeH="0" baseline="0" dirty="0">
                <a:ln>
                  <a:noFill/>
                </a:ln>
                <a:solidFill>
                  <a:schemeClr val="tx1"/>
                </a:solidFill>
                <a:effectLst/>
                <a:latin typeface="Arial" panose="020B0604020202020204" pitchFamily="34" charset="0"/>
              </a:rPr>
              <a:t>Перспективи подальших розробок</a:t>
            </a:r>
            <a:r>
              <a:rPr kumimoji="0" lang="LID4096" altLang="LID4096" sz="1600" b="0" i="0" u="none" strike="noStrike" cap="none" normalizeH="0" baseline="0" dirty="0">
                <a:ln>
                  <a:noFill/>
                </a:ln>
                <a:solidFill>
                  <a:schemeClr val="tx1"/>
                </a:solidFill>
                <a:effectLst/>
                <a:latin typeface="Arial" panose="020B0604020202020204" pitchFamily="34" charset="0"/>
              </a:rPr>
              <a:t> Пріоритетні напрями: push-нагадування через Web Push API, PWA-оболонка для мобільних пристроїв, повторювані події, спільні календарі з запрошеннями, імпорт/експорт у форматі iCal та Docker-контейнеризація для спрощення розгортання.</a:t>
            </a:r>
          </a:p>
        </p:txBody>
      </p:sp>
    </p:spTree>
    <p:extLst>
      <p:ext uri="{BB962C8B-B14F-4D97-AF65-F5344CB8AC3E}">
        <p14:creationId xmlns:p14="http://schemas.microsoft.com/office/powerpoint/2010/main" val="3912813533"/>
      </p:ext>
    </p:extLst>
  </p:cSld>
  <p:clrMapOvr>
    <a:masterClrMapping/>
  </p:clrMapOvr>
</p:sld>
</file>

<file path=ppt/theme/theme1.xml><?xml version="1.0" encoding="utf-8"?>
<a:theme xmlns:a="http://schemas.openxmlformats.org/drawingml/2006/main" name="Тема4">
  <a:themeElements>
    <a:clrScheme name="Офіс">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Офіс">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Офіс">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Тема4" id="{462375DE-8928-429B-B01E-09E2FDA995FC}" vid="{78FACF3B-D61D-4CDD-A381-200BC8A05362}"/>
    </a:ext>
  </a:extLst>
</a:theme>
</file>

<file path=docProps/app.xml><?xml version="1.0" encoding="utf-8"?>
<Properties xmlns="http://schemas.openxmlformats.org/officeDocument/2006/extended-properties" xmlns:vt="http://schemas.openxmlformats.org/officeDocument/2006/docPropsVTypes">
  <Template>Тема4</Template>
  <TotalTime>290</TotalTime>
  <Words>2669</Words>
  <Application>Microsoft Office PowerPoint</Application>
  <PresentationFormat>Широкоэкранный</PresentationFormat>
  <Paragraphs>305</Paragraphs>
  <Slides>22</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22</vt:i4>
      </vt:variant>
    </vt:vector>
  </HeadingPairs>
  <TitlesOfParts>
    <vt:vector size="27" baseType="lpstr">
      <vt:lpstr>Arial Unicode MS</vt:lpstr>
      <vt:lpstr>Arial</vt:lpstr>
      <vt:lpstr>Calibri</vt:lpstr>
      <vt:lpstr>Tahoma</vt:lpstr>
      <vt:lpstr>Тема4</vt:lpstr>
      <vt:lpstr> Тема:Розробка додатка для календаря Виконав: Джулай Макар Олександрович,група ТВ-41 Перевірив: Голець Владислав GitHub репозиторій WEB-KURSOVA Рік захисту 2026</vt:lpstr>
      <vt:lpstr>Актуальність теми </vt:lpstr>
      <vt:lpstr>Постановка задачі </vt:lpstr>
      <vt:lpstr>Аналіз предметної області </vt:lpstr>
      <vt:lpstr>  </vt:lpstr>
      <vt:lpstr>Архітектура системи та математичне моделювання</vt:lpstr>
      <vt:lpstr>Функціональне моделювання — Діаграма прецедентів</vt:lpstr>
      <vt:lpstr>Структурне моделювання даних-ER діаграма</vt:lpstr>
      <vt:lpstr>Діаграма класів UML</vt:lpstr>
      <vt:lpstr>Опис процесу розробки </vt:lpstr>
      <vt:lpstr>Використані мови програмування, фреймворки, бібліотеки</vt:lpstr>
      <vt:lpstr>Ключові фрагменти коду</vt:lpstr>
      <vt:lpstr>Інтерфейс: основні екрани</vt:lpstr>
      <vt:lpstr>Інтерфейс: аналітика та категорії</vt:lpstr>
      <vt:lpstr>Методи тестування </vt:lpstr>
      <vt:lpstr>Результати тестування</vt:lpstr>
      <vt:lpstr>Оцінка якості та надійності</vt:lpstr>
      <vt:lpstr>Порівняння з аналогами</vt:lpstr>
      <vt:lpstr>Процес розгортання системи </vt:lpstr>
      <vt:lpstr>Документація</vt:lpstr>
      <vt:lpstr>Плани подальшого розвитку</vt:lpstr>
      <vt:lpstr>Висновки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Назва роботи  ПІБ студента, група ПІБ наукового керівника, посада  Рік захисту</dc:title>
  <dc:creator>Olha Zalevska</dc:creator>
  <cp:lastModifiedBy>Макар Джулай</cp:lastModifiedBy>
  <cp:revision>25</cp:revision>
  <dcterms:created xsi:type="dcterms:W3CDTF">2024-05-18T16:47:00Z</dcterms:created>
  <dcterms:modified xsi:type="dcterms:W3CDTF">2026-05-17T19:48:22Z</dcterms:modified>
</cp:coreProperties>
</file>